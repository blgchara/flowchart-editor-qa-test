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slideLayouts/slideLayout13.xml" ContentType="application/vnd.openxmlformats-officedocument.presentationml.slideLayout+xml"/>
  <Override PartName="/ppt/theme/theme6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7.xml" ContentType="application/vnd.openxmlformats-officedocument.theme+xml"/>
  <Override PartName="/ppt/slideLayouts/slideLayout16.xml" ContentType="application/vnd.openxmlformats-officedocument.presentationml.slideLayout+xml"/>
  <Override PartName="/ppt/theme/theme8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9.xml" ContentType="application/vnd.openxmlformats-officedocument.theme+xml"/>
  <Override PartName="/ppt/slideLayouts/slideLayout19.xml" ContentType="application/vnd.openxmlformats-officedocument.presentationml.slideLayout+xml"/>
  <Override PartName="/ppt/theme/theme10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11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2.xml" ContentType="application/vnd.openxmlformats-officedocument.theme+xml"/>
  <Override PartName="/ppt/slideLayouts/slideLayout24.xml" ContentType="application/vnd.openxmlformats-officedocument.presentationml.slideLayout+xml"/>
  <Override PartName="/ppt/theme/theme13.xml" ContentType="application/vnd.openxmlformats-officedocument.theme+xml"/>
  <Override PartName="/ppt/slideLayouts/slideLayout25.xml" ContentType="application/vnd.openxmlformats-officedocument.presentationml.slideLayout+xml"/>
  <Override PartName="/ppt/theme/theme14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15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16.xml" ContentType="application/vnd.openxmlformats-officedocument.theme+xml"/>
  <Override PartName="/ppt/slideLayouts/slideLayout32.xml" ContentType="application/vnd.openxmlformats-officedocument.presentationml.slideLayout+xml"/>
  <Override PartName="/ppt/theme/theme17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27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28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6" r:id="rId3"/>
    <p:sldMasterId id="2147483659" r:id="rId4"/>
    <p:sldMasterId id="2147483662" r:id="rId5"/>
    <p:sldMasterId id="2147483665" r:id="rId6"/>
    <p:sldMasterId id="2147483667" r:id="rId7"/>
    <p:sldMasterId id="2147483670" r:id="rId8"/>
    <p:sldMasterId id="2147483672" r:id="rId9"/>
    <p:sldMasterId id="2147483675" r:id="rId10"/>
    <p:sldMasterId id="2147483677" r:id="rId11"/>
    <p:sldMasterId id="2147483680" r:id="rId12"/>
    <p:sldMasterId id="2147483683" r:id="rId13"/>
    <p:sldMasterId id="2147483685" r:id="rId14"/>
    <p:sldMasterId id="2147483687" r:id="rId15"/>
    <p:sldMasterId id="2147483690" r:id="rId16"/>
    <p:sldMasterId id="2147483695" r:id="rId17"/>
    <p:sldMasterId id="2147483697" r:id="rId18"/>
  </p:sldMasterIdLst>
  <p:notesMasterIdLst>
    <p:notesMasterId r:id="rId42"/>
  </p:notesMasterIdLst>
  <p:sldIdLst>
    <p:sldId id="1834" r:id="rId19"/>
    <p:sldId id="1844" r:id="rId20"/>
    <p:sldId id="1845" r:id="rId21"/>
    <p:sldId id="2732" r:id="rId22"/>
    <p:sldId id="3337" r:id="rId23"/>
    <p:sldId id="3338" r:id="rId24"/>
    <p:sldId id="3370" r:id="rId25"/>
    <p:sldId id="3377" r:id="rId26"/>
    <p:sldId id="3360" r:id="rId27"/>
    <p:sldId id="3371" r:id="rId28"/>
    <p:sldId id="3375" r:id="rId29"/>
    <p:sldId id="3361" r:id="rId30"/>
    <p:sldId id="3372" r:id="rId31"/>
    <p:sldId id="3376" r:id="rId32"/>
    <p:sldId id="3362" r:id="rId33"/>
    <p:sldId id="3373" r:id="rId34"/>
    <p:sldId id="3363" r:id="rId35"/>
    <p:sldId id="3340" r:id="rId36"/>
    <p:sldId id="2728" r:id="rId37"/>
    <p:sldId id="3365" r:id="rId38"/>
    <p:sldId id="3343" r:id="rId39"/>
    <p:sldId id="3366" r:id="rId40"/>
    <p:sldId id="1835" r:id="rId41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3F0B"/>
    <a:srgbClr val="006C39"/>
    <a:srgbClr val="007E42"/>
    <a:srgbClr val="008646"/>
    <a:srgbClr val="006434"/>
    <a:srgbClr val="8E0309"/>
    <a:srgbClr val="194326"/>
    <a:srgbClr val="FFFFFF"/>
    <a:srgbClr val="E7D7B7"/>
    <a:srgbClr val="D5B9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70" autoAdjust="0"/>
    <p:restoredTop sz="94660"/>
  </p:normalViewPr>
  <p:slideViewPr>
    <p:cSldViewPr snapToGrid="0">
      <p:cViewPr varScale="1">
        <p:scale>
          <a:sx n="63" d="100"/>
          <a:sy n="63" d="100"/>
        </p:scale>
        <p:origin x="59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9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8.xml"/><Relationship Id="rId39" Type="http://schemas.openxmlformats.org/officeDocument/2006/relationships/slide" Target="slides/slide21.xml"/><Relationship Id="rId21" Type="http://schemas.openxmlformats.org/officeDocument/2006/relationships/slide" Target="slides/slide3.xml"/><Relationship Id="rId34" Type="http://schemas.openxmlformats.org/officeDocument/2006/relationships/slide" Target="slides/slide16.xml"/><Relationship Id="rId42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1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6.xml"/><Relationship Id="rId32" Type="http://schemas.openxmlformats.org/officeDocument/2006/relationships/slide" Target="slides/slide14.xml"/><Relationship Id="rId37" Type="http://schemas.openxmlformats.org/officeDocument/2006/relationships/slide" Target="slides/slide19.xml"/><Relationship Id="rId40" Type="http://schemas.openxmlformats.org/officeDocument/2006/relationships/slide" Target="slides/slide22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5.xml"/><Relationship Id="rId28" Type="http://schemas.openxmlformats.org/officeDocument/2006/relationships/slide" Target="slides/slide10.xml"/><Relationship Id="rId36" Type="http://schemas.openxmlformats.org/officeDocument/2006/relationships/slide" Target="slides/slide18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1.xml"/><Relationship Id="rId31" Type="http://schemas.openxmlformats.org/officeDocument/2006/relationships/slide" Target="slides/slide13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4.xml"/><Relationship Id="rId27" Type="http://schemas.openxmlformats.org/officeDocument/2006/relationships/slide" Target="slides/slide9.xml"/><Relationship Id="rId30" Type="http://schemas.openxmlformats.org/officeDocument/2006/relationships/slide" Target="slides/slide12.xml"/><Relationship Id="rId35" Type="http://schemas.openxmlformats.org/officeDocument/2006/relationships/slide" Target="slides/slide17.xml"/><Relationship Id="rId43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7.xml"/><Relationship Id="rId33" Type="http://schemas.openxmlformats.org/officeDocument/2006/relationships/slide" Target="slides/slide15.xml"/><Relationship Id="rId38" Type="http://schemas.openxmlformats.org/officeDocument/2006/relationships/slide" Target="slides/slide20.xml"/><Relationship Id="rId46" Type="http://schemas.openxmlformats.org/officeDocument/2006/relationships/tableStyles" Target="tableStyles.xml"/><Relationship Id="rId20" Type="http://schemas.openxmlformats.org/officeDocument/2006/relationships/slide" Target="slides/slide2.xml"/><Relationship Id="rId41" Type="http://schemas.openxmlformats.org/officeDocument/2006/relationships/slide" Target="slides/slide2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276123E4-4C7F-4FE4-BE3C-67F6514FFE8D}" type="datetimeFigureOut">
              <a:rPr lang="zh-CN" altLang="en-US" smtClean="0"/>
              <a:t>2025/12/15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D7A2CCA-E5D5-4859-8035-B358016F08F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2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3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4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5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6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7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AC09-DA79-680A-CDD8-D989DFB14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C178DB-B60C-3540-1EFB-0C6441501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0E1448-43A9-8C5A-343B-319A8C7C4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5FC8A0-F34D-0303-80D8-FDEDA8DBC6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4460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9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10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1CF54-95C3-8E16-DF66-1E5498687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5417E1D-FDFB-11B5-09E5-A9A823761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9100B3-5645-019A-9457-818E86298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3865F6-7E09-67CF-2C32-CDB354F326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01685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12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13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A4A8F-9A9B-E951-D8F5-A42AD2C9F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F08FAA-55B5-510A-73A6-9E224494C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4B8CAA-31BD-15A7-D0CC-3D1AF6777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978D56-ECC6-22BB-28ED-995798777C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57816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15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16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17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18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19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20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21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22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23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24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image" Target="../media/image27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1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3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5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6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6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6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7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8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8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8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8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8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/>
          <a:srcRect r="25963"/>
          <a:stretch>
            <a:fillRect/>
          </a:stretch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3697615" y="4908366"/>
            <a:ext cx="7059690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 INSTITUTE OF TECHNOLOGY</a:t>
            </a: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 userDrawn="1"/>
        </p:nvGrpSpPr>
        <p:grpSpPr>
          <a:xfrm>
            <a:off x="566553" y="2031917"/>
            <a:ext cx="1778298" cy="3243219"/>
            <a:chOff x="611818" y="2031917"/>
            <a:chExt cx="1709547" cy="3117834"/>
          </a:xfrm>
        </p:grpSpPr>
        <p:grpSp>
          <p:nvGrpSpPr>
            <p:cNvPr id="70" name="组合 69"/>
            <p:cNvGrpSpPr/>
            <p:nvPr/>
          </p:nvGrpSpPr>
          <p:grpSpPr>
            <a:xfrm>
              <a:off x="611818" y="2051403"/>
              <a:ext cx="567014" cy="3098348"/>
              <a:chOff x="11305242" y="2003776"/>
              <a:chExt cx="354194" cy="1935432"/>
            </a:xfrm>
            <a:solidFill>
              <a:schemeClr val="bg1">
                <a:alpha val="5000"/>
              </a:schemeClr>
            </a:solidFill>
          </p:grpSpPr>
          <p:sp>
            <p:nvSpPr>
              <p:cNvPr id="85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Freeform 6"/>
              <p:cNvSpPr/>
              <p:nvPr/>
            </p:nvSpPr>
            <p:spPr bwMode="auto">
              <a:xfrm>
                <a:off x="11382341" y="3639427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7" name="组合 86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92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3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8" name="组合 87"/>
              <p:cNvGrpSpPr/>
              <p:nvPr/>
            </p:nvGrpSpPr>
            <p:grpSpPr>
              <a:xfrm>
                <a:off x="11380191" y="2640087"/>
                <a:ext cx="214274" cy="229664"/>
                <a:chOff x="3792874" y="3156423"/>
                <a:chExt cx="331330" cy="355128"/>
              </a:xfrm>
              <a:grpFill/>
            </p:grpSpPr>
            <p:sp>
              <p:nvSpPr>
                <p:cNvPr id="89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0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1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71" name="组合 70"/>
            <p:cNvGrpSpPr/>
            <p:nvPr userDrawn="1"/>
          </p:nvGrpSpPr>
          <p:grpSpPr>
            <a:xfrm>
              <a:off x="1752713" y="2031917"/>
              <a:ext cx="568652" cy="3091276"/>
              <a:chOff x="1752714" y="2031919"/>
              <a:chExt cx="568653" cy="3091274"/>
            </a:xfrm>
          </p:grpSpPr>
          <p:grpSp>
            <p:nvGrpSpPr>
              <p:cNvPr id="72" name="组合 71"/>
              <p:cNvGrpSpPr/>
              <p:nvPr/>
            </p:nvGrpSpPr>
            <p:grpSpPr>
              <a:xfrm>
                <a:off x="1769227" y="3776579"/>
                <a:ext cx="501270" cy="527572"/>
                <a:chOff x="6113463" y="3541713"/>
                <a:chExt cx="484188" cy="50958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3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4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3" name="组合 72"/>
              <p:cNvGrpSpPr/>
              <p:nvPr/>
            </p:nvGrpSpPr>
            <p:grpSpPr>
              <a:xfrm>
                <a:off x="1752714" y="2031919"/>
                <a:ext cx="568653" cy="718220"/>
                <a:chOff x="6108700" y="2066926"/>
                <a:chExt cx="549275" cy="69373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1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2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4" name="组合 73"/>
              <p:cNvGrpSpPr/>
              <p:nvPr/>
            </p:nvGrpSpPr>
            <p:grpSpPr>
              <a:xfrm>
                <a:off x="1855433" y="3075554"/>
                <a:ext cx="381292" cy="328704"/>
                <a:chOff x="6186488" y="2930526"/>
                <a:chExt cx="368300" cy="317500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8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0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5" name="组合 74"/>
              <p:cNvGrpSpPr/>
              <p:nvPr/>
            </p:nvGrpSpPr>
            <p:grpSpPr>
              <a:xfrm>
                <a:off x="1804180" y="4681015"/>
                <a:ext cx="442058" cy="442178"/>
                <a:chOff x="11893476" y="1994536"/>
                <a:chExt cx="277932" cy="278006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6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5308" cy="27343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12"/>
                <p:cNvSpPr/>
                <p:nvPr/>
              </p:nvSpPr>
              <p:spPr bwMode="auto">
                <a:xfrm>
                  <a:off x="11893476" y="2009127"/>
                  <a:ext cx="105167" cy="263415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44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697616" y="1658264"/>
            <a:ext cx="7059689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5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1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600575" y="133072"/>
            <a:ext cx="6791691" cy="6535793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87430" y="1483539"/>
            <a:ext cx="7373912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5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667561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925830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88242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文本框 40"/>
          <p:cNvSpPr txBox="1"/>
          <p:nvPr userDrawn="1"/>
        </p:nvSpPr>
        <p:spPr>
          <a:xfrm rot="16200000">
            <a:off x="-1443469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 INSTITUTE OF TECHNOLOGY</a:t>
            </a: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452633" y="548450"/>
            <a:ext cx="2295327" cy="50469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66749" y="1329225"/>
            <a:ext cx="0" cy="471473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9258300" y="1280160"/>
            <a:ext cx="0" cy="483516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 userDrawn="1"/>
        </p:nvGrpSpPr>
        <p:grpSpPr>
          <a:xfrm>
            <a:off x="9834169" y="2044937"/>
            <a:ext cx="1778296" cy="3249639"/>
            <a:chOff x="611819" y="2031917"/>
            <a:chExt cx="1709546" cy="3124006"/>
          </a:xfrm>
        </p:grpSpPr>
        <p:grpSp>
          <p:nvGrpSpPr>
            <p:cNvPr id="46" name="组合 45"/>
            <p:cNvGrpSpPr/>
            <p:nvPr/>
          </p:nvGrpSpPr>
          <p:grpSpPr>
            <a:xfrm>
              <a:off x="611819" y="2051403"/>
              <a:ext cx="567014" cy="3098349"/>
              <a:chOff x="11305242" y="2003776"/>
              <a:chExt cx="354194" cy="1935432"/>
            </a:xfrm>
            <a:solidFill>
              <a:schemeClr val="bg1">
                <a:alpha val="5000"/>
              </a:schemeClr>
            </a:solidFill>
          </p:grpSpPr>
          <p:sp>
            <p:nvSpPr>
              <p:cNvPr id="61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" name="Freeform 6"/>
              <p:cNvSpPr/>
              <p:nvPr/>
            </p:nvSpPr>
            <p:spPr bwMode="auto">
              <a:xfrm>
                <a:off x="11382341" y="3639427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63" name="组合 62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68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9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4" name="组合 63"/>
              <p:cNvGrpSpPr/>
              <p:nvPr/>
            </p:nvGrpSpPr>
            <p:grpSpPr>
              <a:xfrm>
                <a:off x="11380191" y="2640087"/>
                <a:ext cx="214274" cy="229664"/>
                <a:chOff x="3792874" y="3156423"/>
                <a:chExt cx="331330" cy="355128"/>
              </a:xfrm>
              <a:grpFill/>
            </p:grpSpPr>
            <p:sp>
              <p:nvSpPr>
                <p:cNvPr id="65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6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7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47" name="组合 46"/>
            <p:cNvGrpSpPr/>
            <p:nvPr userDrawn="1"/>
          </p:nvGrpSpPr>
          <p:grpSpPr>
            <a:xfrm>
              <a:off x="1752713" y="2031917"/>
              <a:ext cx="568652" cy="3124006"/>
              <a:chOff x="1752713" y="2031917"/>
              <a:chExt cx="568652" cy="3124006"/>
            </a:xfrm>
          </p:grpSpPr>
          <p:grpSp>
            <p:nvGrpSpPr>
              <p:cNvPr id="48" name="组合 47"/>
              <p:cNvGrpSpPr/>
              <p:nvPr/>
            </p:nvGrpSpPr>
            <p:grpSpPr>
              <a:xfrm>
                <a:off x="1769224" y="3776575"/>
                <a:ext cx="501269" cy="527571"/>
                <a:chOff x="6113463" y="3541713"/>
                <a:chExt cx="484188" cy="50958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59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0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1752713" y="2031917"/>
                <a:ext cx="568652" cy="718219"/>
                <a:chOff x="6108700" y="2066926"/>
                <a:chExt cx="549275" cy="69373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57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8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855431" y="3075552"/>
                <a:ext cx="381292" cy="328704"/>
                <a:chOff x="6186488" y="2930526"/>
                <a:chExt cx="368300" cy="317500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54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5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6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51" name="组合 50"/>
              <p:cNvGrpSpPr/>
              <p:nvPr/>
            </p:nvGrpSpPr>
            <p:grpSpPr>
              <a:xfrm>
                <a:off x="1804145" y="4681015"/>
                <a:ext cx="466327" cy="474908"/>
                <a:chOff x="11893475" y="1994536"/>
                <a:chExt cx="293191" cy="298584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52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210566" cy="294792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3" name="Freeform 12"/>
                <p:cNvSpPr/>
                <p:nvPr/>
              </p:nvSpPr>
              <p:spPr bwMode="auto">
                <a:xfrm>
                  <a:off x="11893475" y="2009126"/>
                  <a:ext cx="113382" cy="283994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70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87429" y="4461296"/>
            <a:ext cx="7373913" cy="119983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答辩人：北小理</a:t>
            </a:r>
            <a:endParaRPr lang="en-US" altLang="zh-CN" dirty="0"/>
          </a:p>
          <a:p>
            <a:pPr lvl="0"/>
            <a:r>
              <a:rPr lang="zh-CN" altLang="en-US" dirty="0"/>
              <a:t>导　师：京小工</a:t>
            </a:r>
            <a:endParaRPr lang="en-US" altLang="zh-CN" dirty="0"/>
          </a:p>
          <a:p>
            <a:pPr lvl="0"/>
            <a:r>
              <a:rPr lang="zh-CN" altLang="en-US" dirty="0"/>
              <a:t>时　间：</a:t>
            </a:r>
            <a:fld id="{F6F1CC6F-731D-497C-9A0B-70CB610DC019}" type="datetime1">
              <a:rPr lang="zh-CN" altLang="en-US" smtClean="0"/>
              <a:t>​</a:t>
            </a:fld>
            <a:endParaRPr lang="zh-CN" alt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任意多边形: 形状 39"/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任意多边形: 形状 39"/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任意多边形: 形状 39"/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任意多边形: 形状 74"/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标题 47"/>
          <p:cNvSpPr>
            <a:spLocks noGrp="1"/>
          </p:cNvSpPr>
          <p:nvPr>
            <p:ph type="title" hasCustomPrompt="1"/>
          </p:nvPr>
        </p:nvSpPr>
        <p:spPr>
          <a:xfrm>
            <a:off x="671368" y="2616692"/>
            <a:ext cx="701500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13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671367" y="2352090"/>
            <a:ext cx="5137927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14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671366" y="4094394"/>
            <a:ext cx="6221139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2104863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◁ BIT </a:t>
            </a:r>
            <a:r>
              <a:rPr kumimoji="0" lang="en-US" altLang="zh-CN" sz="2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▷</a:t>
            </a:r>
            <a:endParaRPr kumimoji="0" lang="zh-CN" altLang="en-US" sz="2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671368" y="6061309"/>
            <a:ext cx="2479573" cy="304965"/>
            <a:chOff x="671368" y="6061309"/>
            <a:chExt cx="2479573" cy="304965"/>
          </a:xfrm>
        </p:grpSpPr>
        <p:grpSp>
          <p:nvGrpSpPr>
            <p:cNvPr id="74" name="组合 7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</p:grpSpPr>
          <p:sp>
            <p:nvSpPr>
              <p:cNvPr id="89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Freeform 6"/>
              <p:cNvSpPr/>
              <p:nvPr/>
            </p:nvSpPr>
            <p:spPr bwMode="auto">
              <a:xfrm>
                <a:off x="4620305" y="1246611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9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93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4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5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75" name="组合 7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</p:grpSpPr>
          <p:grpSp>
            <p:nvGrpSpPr>
              <p:cNvPr id="76" name="组合 75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8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8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8" name="组合 77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8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9" name="组合 7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80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1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/>
          <p:cNvSpPr/>
          <p:nvPr userDrawn="1">
            <p:custDataLst>
              <p:tags r:id="rId1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任意多边形: 形状 30"/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43364" y="2558484"/>
            <a:ext cx="6206079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85030"/>
            <a:ext cx="6229674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9" name="任意多边形: 形状 118"/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6" name="任意多边形: 形状 105"/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8" name="任意多边形: 形状 117"/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" name="任意多边形: 形状 83"/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0" name="任意多边形: 形状 83"/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2" name="任意多边形: 形状 101"/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4" name="任意多边形: 形状 83"/>
          <p:cNvSpPr/>
          <p:nvPr userDrawn="1"/>
        </p:nvSpPr>
        <p:spPr>
          <a:xfrm>
            <a:off x="1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8" name="标题 47"/>
          <p:cNvSpPr>
            <a:spLocks noGrp="1"/>
          </p:cNvSpPr>
          <p:nvPr userDrawn="1">
            <p:ph type="title" hasCustomPrompt="1"/>
          </p:nvPr>
        </p:nvSpPr>
        <p:spPr>
          <a:xfrm>
            <a:off x="515938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</a:p>
        </p:txBody>
      </p:sp>
      <p:sp>
        <p:nvSpPr>
          <p:cNvPr id="38" name="文本占位符 53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141362" y="5528219"/>
            <a:ext cx="7909277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BIT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SINCE 1940</a:t>
            </a:r>
            <a:endParaRPr kumimoji="0" lang="zh-CN" altLang="en-US" sz="1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0272478" y="6308389"/>
            <a:ext cx="1629576" cy="198576"/>
            <a:chOff x="10272478" y="6308389"/>
            <a:chExt cx="1629576" cy="198576"/>
          </a:xfrm>
        </p:grpSpPr>
        <p:grpSp>
          <p:nvGrpSpPr>
            <p:cNvPr id="40" name="组合 39"/>
            <p:cNvGrpSpPr/>
            <p:nvPr userDrawn="1"/>
          </p:nvGrpSpPr>
          <p:grpSpPr>
            <a:xfrm>
              <a:off x="11216726" y="6310650"/>
              <a:ext cx="685328" cy="194486"/>
              <a:chOff x="2373567" y="1096524"/>
              <a:chExt cx="2578404" cy="731714"/>
            </a:xfrm>
          </p:grpSpPr>
          <p:sp>
            <p:nvSpPr>
              <p:cNvPr id="7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1" name="Freeform 6"/>
              <p:cNvSpPr/>
              <p:nvPr/>
            </p:nvSpPr>
            <p:spPr bwMode="auto">
              <a:xfrm>
                <a:off x="4620306" y="1237050"/>
                <a:ext cx="331665" cy="499208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72" name="组合 7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7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3" name="组合 7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7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41" name="组合 40"/>
            <p:cNvGrpSpPr/>
            <p:nvPr userDrawn="1"/>
          </p:nvGrpSpPr>
          <p:grpSpPr>
            <a:xfrm>
              <a:off x="10272478" y="6308389"/>
              <a:ext cx="721622" cy="198576"/>
              <a:chOff x="2372715" y="161759"/>
              <a:chExt cx="2714952" cy="747103"/>
            </a:xfrm>
          </p:grpSpPr>
          <p:grpSp>
            <p:nvGrpSpPr>
              <p:cNvPr id="42" name="组合 41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6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6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6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4613354" y="313344"/>
                <a:ext cx="474313" cy="479486"/>
                <a:chOff x="11893474" y="1994534"/>
                <a:chExt cx="286683" cy="289808"/>
              </a:xfrm>
              <a:solidFill>
                <a:schemeClr val="accent3"/>
              </a:solidFill>
            </p:grpSpPr>
            <p:sp>
              <p:nvSpPr>
                <p:cNvPr id="46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4"/>
                  <a:ext cx="204058" cy="285679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7" name="Freeform 12"/>
                <p:cNvSpPr/>
                <p:nvPr/>
              </p:nvSpPr>
              <p:spPr bwMode="auto">
                <a:xfrm>
                  <a:off x="11893474" y="2009126"/>
                  <a:ext cx="109877" cy="275216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/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-1" fmla="*/ 0 w 3162300"/>
              <a:gd name="connsiteY0-2" fmla="*/ 2147409 h 2238849"/>
              <a:gd name="connsiteX1-3" fmla="*/ 0 w 3162300"/>
              <a:gd name="connsiteY1-4" fmla="*/ 1565265 h 2238849"/>
              <a:gd name="connsiteX2-5" fmla="*/ 0 w 3162300"/>
              <a:gd name="connsiteY2-6" fmla="*/ 1544697 h 2238849"/>
              <a:gd name="connsiteX3-7" fmla="*/ 0 w 3162300"/>
              <a:gd name="connsiteY3-8" fmla="*/ 0 h 2238849"/>
              <a:gd name="connsiteX4-9" fmla="*/ 1585774 w 3162300"/>
              <a:gd name="connsiteY4-10" fmla="*/ 1112898 h 2238849"/>
              <a:gd name="connsiteX5-11" fmla="*/ 3162300 w 3162300"/>
              <a:gd name="connsiteY5-12" fmla="*/ 0 h 2238849"/>
              <a:gd name="connsiteX6-13" fmla="*/ 3162300 w 3162300"/>
              <a:gd name="connsiteY6-14" fmla="*/ 1544697 h 2238849"/>
              <a:gd name="connsiteX7-15" fmla="*/ 3162300 w 3162300"/>
              <a:gd name="connsiteY7-16" fmla="*/ 1565265 h 2238849"/>
              <a:gd name="connsiteX8-17" fmla="*/ 3162300 w 3162300"/>
              <a:gd name="connsiteY8-18" fmla="*/ 2147409 h 2238849"/>
              <a:gd name="connsiteX9" fmla="*/ 91440 w 3162300"/>
              <a:gd name="connsiteY9" fmla="*/ 2238849 h 2238849"/>
              <a:gd name="connsiteX0-19" fmla="*/ 0 w 3162300"/>
              <a:gd name="connsiteY0-20" fmla="*/ 2147409 h 2147409"/>
              <a:gd name="connsiteX1-21" fmla="*/ 0 w 3162300"/>
              <a:gd name="connsiteY1-22" fmla="*/ 1565265 h 2147409"/>
              <a:gd name="connsiteX2-23" fmla="*/ 0 w 3162300"/>
              <a:gd name="connsiteY2-24" fmla="*/ 1544697 h 2147409"/>
              <a:gd name="connsiteX3-25" fmla="*/ 0 w 3162300"/>
              <a:gd name="connsiteY3-26" fmla="*/ 0 h 2147409"/>
              <a:gd name="connsiteX4-27" fmla="*/ 1585774 w 3162300"/>
              <a:gd name="connsiteY4-28" fmla="*/ 1112898 h 2147409"/>
              <a:gd name="connsiteX5-29" fmla="*/ 3162300 w 3162300"/>
              <a:gd name="connsiteY5-30" fmla="*/ 0 h 2147409"/>
              <a:gd name="connsiteX6-31" fmla="*/ 3162300 w 3162300"/>
              <a:gd name="connsiteY6-32" fmla="*/ 1544697 h 2147409"/>
              <a:gd name="connsiteX7-33" fmla="*/ 3162300 w 3162300"/>
              <a:gd name="connsiteY7-34" fmla="*/ 1565265 h 2147409"/>
              <a:gd name="connsiteX8-35" fmla="*/ 3162300 w 3162300"/>
              <a:gd name="connsiteY8-36" fmla="*/ 2147409 h 21474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-1" fmla="*/ 0 w 3162300"/>
              <a:gd name="connsiteY0-2" fmla="*/ 1871961 h 1963401"/>
              <a:gd name="connsiteX1-3" fmla="*/ 0 w 3162300"/>
              <a:gd name="connsiteY1-4" fmla="*/ 0 h 1963401"/>
              <a:gd name="connsiteX2-5" fmla="*/ 3162300 w 3162300"/>
              <a:gd name="connsiteY2-6" fmla="*/ 0 h 1963401"/>
              <a:gd name="connsiteX3-7" fmla="*/ 3162300 w 3162300"/>
              <a:gd name="connsiteY3-8" fmla="*/ 1871961 h 1963401"/>
              <a:gd name="connsiteX4-9" fmla="*/ 91440 w 3162300"/>
              <a:gd name="connsiteY4-10" fmla="*/ 1963401 h 1963401"/>
              <a:gd name="connsiteX0-11" fmla="*/ 0 w 3162300"/>
              <a:gd name="connsiteY0-12" fmla="*/ 1871961 h 1871961"/>
              <a:gd name="connsiteX1-13" fmla="*/ 0 w 3162300"/>
              <a:gd name="connsiteY1-14" fmla="*/ 0 h 1871961"/>
              <a:gd name="connsiteX2-15" fmla="*/ 3162300 w 3162300"/>
              <a:gd name="connsiteY2-16" fmla="*/ 0 h 1871961"/>
              <a:gd name="connsiteX3-17" fmla="*/ 3162300 w 3162300"/>
              <a:gd name="connsiteY3-18" fmla="*/ 1871961 h 18719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/>
          <a:srcRect l="128" r="23340"/>
          <a:stretch>
            <a:fillRect/>
          </a:stretch>
        </p:blipFill>
        <p:spPr>
          <a:xfrm>
            <a:off x="4303956" y="0"/>
            <a:ext cx="7888043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64" name="组合 63"/>
          <p:cNvGrpSpPr/>
          <p:nvPr userDrawn="1"/>
        </p:nvGrpSpPr>
        <p:grpSpPr>
          <a:xfrm>
            <a:off x="691959" y="5891503"/>
            <a:ext cx="4041392" cy="497055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65" name="组合 6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8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1" name="Freeform 6"/>
              <p:cNvSpPr/>
              <p:nvPr/>
            </p:nvSpPr>
            <p:spPr bwMode="auto">
              <a:xfrm>
                <a:off x="4620306" y="1240665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2" name="组合 8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3" name="组合 8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66" name="组合 6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7" name="组合 6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8" name="组合 6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9" name="组合 6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7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/>
          <a:srcRect l="15573" r="198"/>
          <a:stretch>
            <a:fillRect/>
          </a:stretch>
        </p:blipFill>
        <p:spPr>
          <a:xfrm>
            <a:off x="0" y="0"/>
            <a:ext cx="8678174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9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64" name="组合 63"/>
          <p:cNvGrpSpPr/>
          <p:nvPr userDrawn="1"/>
        </p:nvGrpSpPr>
        <p:grpSpPr>
          <a:xfrm>
            <a:off x="7388034" y="5891503"/>
            <a:ext cx="4041392" cy="497055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65" name="组合 6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8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1" name="Freeform 6"/>
              <p:cNvSpPr/>
              <p:nvPr/>
            </p:nvSpPr>
            <p:spPr bwMode="auto">
              <a:xfrm>
                <a:off x="4620306" y="1240665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2" name="组合 8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3" name="组合 8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66" name="组合 6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7" name="组合 6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8" name="组合 6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9" name="组合 6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7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4768810" y="7452"/>
            <a:ext cx="7423189" cy="6850548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41" name="组合 40"/>
          <p:cNvGrpSpPr/>
          <p:nvPr userDrawn="1"/>
        </p:nvGrpSpPr>
        <p:grpSpPr>
          <a:xfrm>
            <a:off x="691959" y="5891503"/>
            <a:ext cx="4041392" cy="497055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42" name="组合 4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7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" name="Freeform 6"/>
              <p:cNvSpPr/>
              <p:nvPr/>
            </p:nvSpPr>
            <p:spPr bwMode="auto">
              <a:xfrm>
                <a:off x="4620306" y="1225926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59" name="组合 58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0" name="组合 59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1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2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3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43" name="组合 4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4" name="组合 43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6" name="组合 45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8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9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-10414" y="0"/>
            <a:ext cx="8336943" cy="686004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0414" y="0"/>
            <a:ext cx="1220241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41" name="组合 40"/>
          <p:cNvGrpSpPr/>
          <p:nvPr userDrawn="1"/>
        </p:nvGrpSpPr>
        <p:grpSpPr>
          <a:xfrm>
            <a:off x="7388034" y="5891503"/>
            <a:ext cx="4041392" cy="497055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42" name="组合 4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7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" name="Freeform 6"/>
              <p:cNvSpPr/>
              <p:nvPr/>
            </p:nvSpPr>
            <p:spPr bwMode="auto">
              <a:xfrm>
                <a:off x="4620306" y="1225926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59" name="组合 58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0" name="组合 59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1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2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3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43" name="组合 4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4" name="组合 43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6" name="组合 45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8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9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6352" y="0"/>
            <a:ext cx="12198351" cy="5024521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6351" y="0"/>
            <a:ext cx="1219834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0"/>
                </a:schemeClr>
              </a:gs>
              <a:gs pos="66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550546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23405" y="2402693"/>
            <a:ext cx="4785100" cy="47749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>
            <a:off x="14873" y="5340546"/>
            <a:ext cx="6018099" cy="15183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 flipH="1">
            <a:off x="6154789" y="5340546"/>
            <a:ext cx="6018099" cy="15183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5018002" y="2568943"/>
            <a:ext cx="2143294" cy="59991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0" y="0"/>
            <a:ext cx="12192000" cy="59024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6261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V="1">
            <a:off x="14873" y="-15231"/>
            <a:ext cx="6018099" cy="151836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H="1" flipV="1">
            <a:off x="6154789" y="-15231"/>
            <a:ext cx="6018099" cy="15183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5018002" y="2577573"/>
            <a:ext cx="2143294" cy="599913"/>
          </a:xfrm>
          <a:prstGeom prst="rect">
            <a:avLst/>
          </a:prstGeom>
        </p:spPr>
      </p:pic>
      <p:grpSp>
        <p:nvGrpSpPr>
          <p:cNvPr id="66" name="组合 65"/>
          <p:cNvGrpSpPr/>
          <p:nvPr userDrawn="1"/>
        </p:nvGrpSpPr>
        <p:grpSpPr>
          <a:xfrm>
            <a:off x="3040886" y="5672444"/>
            <a:ext cx="6136452" cy="754729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67" name="组合 6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82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3" name="Freeform 6"/>
              <p:cNvSpPr/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4" name="组合 83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5" name="组合 84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6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7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8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68" name="组合 67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8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2" name="组合 71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73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4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24"/>
            <a:ext cx="12193057" cy="3633531"/>
          </a:xfrm>
          <a:prstGeom prst="rect">
            <a:avLst/>
          </a:prstGeom>
        </p:spPr>
      </p:pic>
      <p:sp>
        <p:nvSpPr>
          <p:cNvPr id="37" name="任意形状 36"/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0" y="0"/>
            <a:ext cx="12192000" cy="1632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502191" y="3048198"/>
            <a:ext cx="1193467" cy="1192626"/>
          </a:xfrm>
          <a:prstGeom prst="rect">
            <a:avLst/>
          </a:prstGeom>
        </p:spPr>
      </p:pic>
      <p:sp>
        <p:nvSpPr>
          <p:cNvPr id="43" name="文本框 42"/>
          <p:cNvSpPr txBox="1"/>
          <p:nvPr userDrawn="1"/>
        </p:nvSpPr>
        <p:spPr>
          <a:xfrm>
            <a:off x="150844" y="617414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BIT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SINCE 1940</a:t>
            </a:r>
            <a:endParaRPr kumimoji="0" lang="zh-CN" altLang="en-US" sz="1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10272478" y="6396638"/>
            <a:ext cx="1629576" cy="198576"/>
            <a:chOff x="10272478" y="6308389"/>
            <a:chExt cx="1629576" cy="198576"/>
          </a:xfrm>
        </p:grpSpPr>
        <p:grpSp>
          <p:nvGrpSpPr>
            <p:cNvPr id="32" name="组合 31"/>
            <p:cNvGrpSpPr/>
            <p:nvPr userDrawn="1"/>
          </p:nvGrpSpPr>
          <p:grpSpPr>
            <a:xfrm>
              <a:off x="11216726" y="6310650"/>
              <a:ext cx="685328" cy="194486"/>
              <a:chOff x="2373567" y="1096524"/>
              <a:chExt cx="2578404" cy="731714"/>
            </a:xfrm>
          </p:grpSpPr>
          <p:sp>
            <p:nvSpPr>
              <p:cNvPr id="75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Freeform 6"/>
              <p:cNvSpPr/>
              <p:nvPr/>
            </p:nvSpPr>
            <p:spPr bwMode="auto">
              <a:xfrm>
                <a:off x="4620306" y="1229886"/>
                <a:ext cx="331665" cy="499208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77" name="组合 76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82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3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8" name="组合 77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79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0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1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33" name="组合 32"/>
            <p:cNvGrpSpPr/>
            <p:nvPr userDrawn="1"/>
          </p:nvGrpSpPr>
          <p:grpSpPr>
            <a:xfrm>
              <a:off x="10272478" y="6308389"/>
              <a:ext cx="716480" cy="198576"/>
              <a:chOff x="2372715" y="161759"/>
              <a:chExt cx="2695608" cy="747103"/>
            </a:xfrm>
          </p:grpSpPr>
          <p:grpSp>
            <p:nvGrpSpPr>
              <p:cNvPr id="34" name="组合 33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73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4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71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2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68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9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0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39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0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7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222990" y="1401505"/>
            <a:ext cx="3746000" cy="104851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7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453730" y="4619682"/>
            <a:ext cx="3284503" cy="72219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/>
          <a:srcRect b="7394"/>
          <a:stretch>
            <a:fillRect/>
          </a:stretch>
        </p:blipFill>
        <p:spPr>
          <a:xfrm>
            <a:off x="-3165" y="0"/>
            <a:ext cx="1219198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10" y="1"/>
            <a:ext cx="12191980" cy="6857994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  <a:lumMod val="85000"/>
                </a:schemeClr>
              </a:gs>
              <a:gs pos="50000">
                <a:schemeClr val="accent1">
                  <a:alpha val="90000"/>
                  <a:lumMod val="85000"/>
                </a:schemeClr>
              </a:gs>
              <a:gs pos="100000">
                <a:schemeClr val="accent1">
                  <a:alpha val="90000"/>
                  <a:lumMod val="8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72100" y="3028371"/>
            <a:ext cx="9041450" cy="911074"/>
          </a:xfrm>
        </p:spPr>
        <p:txBody>
          <a:bodyPr/>
          <a:lstStyle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北京理工大学毕业答辩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767417" y="1018488"/>
            <a:ext cx="4650816" cy="1301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9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81566"/>
            <a:ext cx="12192000" cy="3244934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3317875"/>
            <a:ext cx="12192000" cy="354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" name="图片 6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 bwMode="auto">
          <a:xfrm>
            <a:off x="9790632" y="109143"/>
            <a:ext cx="2286546" cy="297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224285" y="-494144"/>
            <a:ext cx="3165893" cy="41243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9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5089582"/>
            <a:chOff x="0" y="0"/>
            <a:chExt cx="12192000" cy="5089582"/>
          </a:xfrm>
          <a:solidFill>
            <a:schemeClr val="accent1"/>
          </a:solidFill>
        </p:grpSpPr>
        <p:sp>
          <p:nvSpPr>
            <p:cNvPr id="3" name="等腰三角形 2"/>
            <p:cNvSpPr/>
            <p:nvPr/>
          </p:nvSpPr>
          <p:spPr>
            <a:xfrm flipV="1">
              <a:off x="0" y="4123423"/>
              <a:ext cx="12192000" cy="966159"/>
            </a:xfrm>
            <a:prstGeom prst="triangle">
              <a:avLst/>
            </a:prstGeom>
            <a:grpFill/>
            <a:ln>
              <a:noFill/>
            </a:ln>
            <a:effectLst>
              <a:outerShdw blurRad="76200" dist="127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0"/>
              <a:ext cx="12192000" cy="41234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9" name="组合 28"/>
          <p:cNvGrpSpPr/>
          <p:nvPr userDrawn="1"/>
        </p:nvGrpSpPr>
        <p:grpSpPr>
          <a:xfrm>
            <a:off x="2055967" y="1793453"/>
            <a:ext cx="8080066" cy="99377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0" name="组合 29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5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" name="Freeform 6"/>
              <p:cNvSpPr/>
              <p:nvPr/>
            </p:nvSpPr>
            <p:spPr bwMode="auto">
              <a:xfrm>
                <a:off x="4620306" y="1254098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2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3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49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0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1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31" name="组合 30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2" name="组合 31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3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4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1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2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4" name="组合 33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38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39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0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36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37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/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 t="15558" b="38705"/>
          <a:stretch>
            <a:fillRect/>
          </a:stretch>
        </p:blipFill>
        <p:spPr>
          <a:xfrm>
            <a:off x="1" y="0"/>
            <a:ext cx="12192000" cy="2290219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-81481" y="2289050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723340" y="1294827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723340" y="5613415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 cstate="print"/>
          <a:srcRect l="49471"/>
          <a:stretch>
            <a:fillRect/>
          </a:stretch>
        </p:blipFill>
        <p:spPr>
          <a:xfrm>
            <a:off x="-34506" y="163259"/>
            <a:ext cx="3298317" cy="65314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print"/>
          <a:srcRect r="49912"/>
          <a:stretch>
            <a:fillRect/>
          </a:stretch>
        </p:blipFill>
        <p:spPr>
          <a:xfrm>
            <a:off x="8928190" y="163258"/>
            <a:ext cx="3269562" cy="65314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 rot="16200000">
            <a:off x="-1538864" y="2653429"/>
            <a:ext cx="52296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1" i="0" u="none" strike="noStrike" kern="1200" cap="none" spc="5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Contents</a:t>
            </a:r>
            <a:r>
              <a:rPr kumimoji="0" lang="en-US" altLang="zh-CN" sz="4400" b="1" i="0" u="none" strike="noStrike" kern="1200" cap="none" spc="5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■</a:t>
            </a:r>
            <a:endParaRPr kumimoji="0" lang="zh-CN" altLang="en-US" sz="4400" b="1" i="0" u="none" strike="noStrike" kern="1200" cap="none" spc="50" normalizeH="0" baseline="0" noProof="0" dirty="0">
              <a:ln>
                <a:noFill/>
              </a:ln>
              <a:solidFill>
                <a:srgbClr val="A13F0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116549" y="3752395"/>
            <a:ext cx="738664" cy="224676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6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结构大纲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519824" y="6600901"/>
            <a:ext cx="25234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 INSTITUTE OF TECHNOLOGY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041148" y="78493"/>
            <a:ext cx="2025400" cy="566914"/>
          </a:xfrm>
          <a:prstGeom prst="rect">
            <a:avLst/>
          </a:prstGeom>
        </p:spPr>
      </p:pic>
      <p:sp>
        <p:nvSpPr>
          <p:cNvPr id="82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84" name="矩形 83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51" name="组合 50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4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5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1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/>
          <a:srcRect r="20215"/>
          <a:stretch>
            <a:fillRect/>
          </a:stretch>
        </p:blipFill>
        <p:spPr>
          <a:xfrm>
            <a:off x="6592525" y="0"/>
            <a:ext cx="5609371" cy="6765696"/>
          </a:xfrm>
          <a:prstGeom prst="rect">
            <a:avLst/>
          </a:prstGeom>
        </p:spPr>
      </p:pic>
      <p:sp>
        <p:nvSpPr>
          <p:cNvPr id="63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4" name="图片 63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65" name="矩形 64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0" name="组合 29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1" name="组合 30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6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7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48" name="组合 47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3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4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0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1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2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32" name="组合 31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3" name="组合 32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4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5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4" name="组合 33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2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3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39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0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1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37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38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椭圆 88"/>
          <p:cNvSpPr/>
          <p:nvPr userDrawn="1"/>
        </p:nvSpPr>
        <p:spPr>
          <a:xfrm>
            <a:off x="-3816599" y="-1541834"/>
            <a:ext cx="8697505" cy="9941668"/>
          </a:xfrm>
          <a:prstGeom prst="ellipse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8" name="椭圆 87"/>
          <p:cNvSpPr/>
          <p:nvPr userDrawn="1"/>
        </p:nvSpPr>
        <p:spPr>
          <a:xfrm>
            <a:off x="-3999568" y="-1541834"/>
            <a:ext cx="8697505" cy="994166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7" name="图片 86"/>
          <p:cNvPicPr>
            <a:picLocks noChangeAspect="1"/>
          </p:cNvPicPr>
          <p:nvPr userDrawn="1"/>
        </p:nvPicPr>
        <p:blipFill rotWithShape="1">
          <a:blip r:embed="rId2" cstate="print"/>
          <a:srcRect l="18116" t="7030" r="31559" b="11337"/>
          <a:stretch>
            <a:fillRect/>
          </a:stretch>
        </p:blipFill>
        <p:spPr>
          <a:xfrm>
            <a:off x="-1260196" y="1"/>
            <a:ext cx="5919101" cy="6857999"/>
          </a:xfrm>
          <a:custGeom>
            <a:avLst/>
            <a:gdLst>
              <a:gd name="connsiteX0" fmla="*/ 0 w 5919101"/>
              <a:gd name="connsiteY0" fmla="*/ 0 h 6858000"/>
              <a:gd name="connsiteX1" fmla="*/ 4714485 w 5919101"/>
              <a:gd name="connsiteY1" fmla="*/ 0 h 6858000"/>
              <a:gd name="connsiteX2" fmla="*/ 4786974 w 5919101"/>
              <a:gd name="connsiteY2" fmla="*/ 86723 h 6858000"/>
              <a:gd name="connsiteX3" fmla="*/ 5919101 w 5919101"/>
              <a:gd name="connsiteY3" fmla="*/ 3429000 h 6858000"/>
              <a:gd name="connsiteX4" fmla="*/ 4786974 w 5919101"/>
              <a:gd name="connsiteY4" fmla="*/ 6771277 h 6858000"/>
              <a:gd name="connsiteX5" fmla="*/ 4714485 w 5919101"/>
              <a:gd name="connsiteY5" fmla="*/ 6858000 h 6858000"/>
              <a:gd name="connsiteX6" fmla="*/ 0 w 59191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9101" h="6858000">
                <a:moveTo>
                  <a:pt x="0" y="0"/>
                </a:moveTo>
                <a:lnTo>
                  <a:pt x="4714485" y="0"/>
                </a:lnTo>
                <a:lnTo>
                  <a:pt x="4786974" y="86723"/>
                </a:lnTo>
                <a:cubicBezTo>
                  <a:pt x="5490384" y="969480"/>
                  <a:pt x="5919101" y="2142133"/>
                  <a:pt x="5919101" y="3429000"/>
                </a:cubicBezTo>
                <a:cubicBezTo>
                  <a:pt x="5919101" y="4715867"/>
                  <a:pt x="5490384" y="5888521"/>
                  <a:pt x="4786974" y="6771277"/>
                </a:cubicBezTo>
                <a:lnTo>
                  <a:pt x="47144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6" name="椭圆 85"/>
          <p:cNvSpPr/>
          <p:nvPr userDrawn="1"/>
        </p:nvSpPr>
        <p:spPr>
          <a:xfrm>
            <a:off x="-4038600" y="-1541834"/>
            <a:ext cx="8697505" cy="9941668"/>
          </a:xfrm>
          <a:prstGeom prst="ellipse">
            <a:avLst/>
          </a:prstGeom>
          <a:solidFill>
            <a:schemeClr val="accent1">
              <a:alpha val="88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0" name="图片 89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83781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/>
          <a:srcRect r="30571" b="46397"/>
          <a:stretch>
            <a:fillRect/>
          </a:stretch>
        </p:blipFill>
        <p:spPr>
          <a:xfrm>
            <a:off x="9019185" y="4400550"/>
            <a:ext cx="3194586" cy="24693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4398806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63500" dir="540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print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-71956" y="4398806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sp>
        <p:nvSpPr>
          <p:cNvPr id="18" name="矩形: 圆角 162"/>
          <p:cNvSpPr/>
          <p:nvPr userDrawn="1"/>
        </p:nvSpPr>
        <p:spPr>
          <a:xfrm>
            <a:off x="1664486" y="3107981"/>
            <a:ext cx="8945408" cy="3014890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8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: 圆角 163"/>
          <p:cNvSpPr/>
          <p:nvPr userDrawn="1"/>
        </p:nvSpPr>
        <p:spPr>
          <a:xfrm>
            <a:off x="1463942" y="3222979"/>
            <a:ext cx="9346497" cy="2899892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94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: 圆角 164"/>
          <p:cNvSpPr/>
          <p:nvPr userDrawn="1"/>
        </p:nvSpPr>
        <p:spPr>
          <a:xfrm>
            <a:off x="1200150" y="3365257"/>
            <a:ext cx="9791700" cy="2757614"/>
          </a:xfrm>
          <a:prstGeom prst="roundRect">
            <a:avLst>
              <a:gd name="adj" fmla="val 3205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rgbClr val="F8F8F8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sysClr val="window" lastClr="FFFFFF">
                <a:lumMod val="7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<a:noAutofit/>
          </a:bodyPr>
          <a:lstStyle/>
          <a:p>
            <a:pPr marL="0" marR="0" lvl="0" indent="4572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/>
          <a:srcRect l="29063" r="32938"/>
          <a:stretch>
            <a:fillRect/>
          </a:stretch>
        </p:blipFill>
        <p:spPr>
          <a:xfrm>
            <a:off x="0" y="0"/>
            <a:ext cx="3914775" cy="6857999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1"/>
            <a:ext cx="3914775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0" y="0"/>
            <a:ext cx="3914774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396045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3961505" y="2797003"/>
            <a:ext cx="122686" cy="1263995"/>
            <a:chOff x="4630742" y="2258287"/>
            <a:chExt cx="122686" cy="1263995"/>
          </a:xfrm>
          <a:solidFill>
            <a:schemeClr val="accent4"/>
          </a:solidFill>
        </p:grpSpPr>
        <p:sp>
          <p:nvSpPr>
            <p:cNvPr id="22" name="等腰三角形 21"/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/>
          <p:cNvCxnSpPr/>
          <p:nvPr userDrawn="1"/>
        </p:nvCxnSpPr>
        <p:spPr>
          <a:xfrm>
            <a:off x="1053541" y="2793542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 userDrawn="1"/>
        </p:nvSpPr>
        <p:spPr>
          <a:xfrm>
            <a:off x="846867" y="2752385"/>
            <a:ext cx="21362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</a:p>
        </p:txBody>
      </p:sp>
      <p:sp>
        <p:nvSpPr>
          <p:cNvPr id="44" name="矩形 43"/>
          <p:cNvSpPr/>
          <p:nvPr userDrawn="1"/>
        </p:nvSpPr>
        <p:spPr>
          <a:xfrm>
            <a:off x="963806" y="3595872"/>
            <a:ext cx="1906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CONTENTS</a:t>
            </a:r>
          </a:p>
        </p:txBody>
      </p:sp>
      <p:cxnSp>
        <p:nvCxnSpPr>
          <p:cNvPr id="45" name="直接连接符 44"/>
          <p:cNvCxnSpPr/>
          <p:nvPr userDrawn="1"/>
        </p:nvCxnSpPr>
        <p:spPr>
          <a:xfrm>
            <a:off x="1053541" y="4060998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64854" y="2218510"/>
            <a:ext cx="1715719" cy="4802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 cstate="print"/>
          <a:srcRect r="15912" b="16285"/>
          <a:stretch>
            <a:fillRect/>
          </a:stretch>
        </p:blipFill>
        <p:spPr>
          <a:xfrm>
            <a:off x="7258050" y="1942165"/>
            <a:ext cx="4949784" cy="493364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6-2">
    <p:bg>
      <p:bgPr>
        <a:gradFill>
          <a:gsLst>
            <a:gs pos="25000">
              <a:schemeClr val="accent1">
                <a:alpha val="0"/>
              </a:schemeClr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43725" y="493231"/>
            <a:ext cx="5251028" cy="5254131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6943725" y="0"/>
            <a:ext cx="5248273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0" name="矩形 119"/>
          <p:cNvSpPr/>
          <p:nvPr userDrawn="1"/>
        </p:nvSpPr>
        <p:spPr>
          <a:xfrm>
            <a:off x="660400" y="6054314"/>
            <a:ext cx="2014538" cy="1438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第几部分 ▶</a:t>
            </a:r>
          </a:p>
        </p:txBody>
      </p:sp>
      <p:sp>
        <p:nvSpPr>
          <p:cNvPr id="122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420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</a:p>
        </p:txBody>
      </p:sp>
      <p:sp>
        <p:nvSpPr>
          <p:cNvPr id="123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</a:p>
          <a:p>
            <a:pPr lvl="0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167300"/>
            <a:ext cx="12192000" cy="690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43" name="图片 14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203766" y="6386257"/>
            <a:ext cx="1257421" cy="276480"/>
          </a:xfrm>
          <a:prstGeom prst="rect">
            <a:avLst/>
          </a:prstGeom>
        </p:spPr>
      </p:pic>
      <p:grpSp>
        <p:nvGrpSpPr>
          <p:cNvPr id="85" name="组合 84"/>
          <p:cNvGrpSpPr/>
          <p:nvPr userDrawn="1"/>
        </p:nvGrpSpPr>
        <p:grpSpPr>
          <a:xfrm>
            <a:off x="694004" y="6394741"/>
            <a:ext cx="1931864" cy="235412"/>
            <a:chOff x="10272478" y="6308389"/>
            <a:chExt cx="1629576" cy="198576"/>
          </a:xfrm>
        </p:grpSpPr>
        <p:grpSp>
          <p:nvGrpSpPr>
            <p:cNvPr id="86" name="组合 85"/>
            <p:cNvGrpSpPr/>
            <p:nvPr userDrawn="1"/>
          </p:nvGrpSpPr>
          <p:grpSpPr>
            <a:xfrm>
              <a:off x="11216726" y="6310650"/>
              <a:ext cx="685328" cy="194486"/>
              <a:chOff x="2373567" y="1096524"/>
              <a:chExt cx="2578404" cy="731714"/>
            </a:xfrm>
          </p:grpSpPr>
          <p:sp>
            <p:nvSpPr>
              <p:cNvPr id="101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2" name="Freeform 6"/>
              <p:cNvSpPr/>
              <p:nvPr/>
            </p:nvSpPr>
            <p:spPr bwMode="auto">
              <a:xfrm>
                <a:off x="4620306" y="1235296"/>
                <a:ext cx="331665" cy="499207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103" name="组合 102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108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9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104" name="组合 103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105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6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7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87" name="组合 86"/>
            <p:cNvGrpSpPr/>
            <p:nvPr userDrawn="1"/>
          </p:nvGrpSpPr>
          <p:grpSpPr>
            <a:xfrm>
              <a:off x="10272478" y="6308389"/>
              <a:ext cx="716480" cy="198576"/>
              <a:chOff x="2372715" y="161759"/>
              <a:chExt cx="2695608" cy="747103"/>
            </a:xfrm>
          </p:grpSpPr>
          <p:grpSp>
            <p:nvGrpSpPr>
              <p:cNvPr id="88" name="组合 87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99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0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97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8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94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5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6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91" name="组合 90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92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3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2041996" y="3927615"/>
            <a:ext cx="8108006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473992" y="3927615"/>
            <a:ext cx="9244014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 l="1" t="13078" r="-1" b="115"/>
          <a:stretch>
            <a:fillRect/>
          </a:stretch>
        </p:blipFill>
        <p:spPr>
          <a:xfrm>
            <a:off x="0" y="-1"/>
            <a:ext cx="12191999" cy="4362681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4346687"/>
            <a:ext cx="12192001" cy="251131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4346687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936" y="4346687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828800" y="2524126"/>
            <a:ext cx="8494006" cy="356807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9" name="图片 68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554764" y="861200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7423183" y="0"/>
            <a:ext cx="4768815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文本框 44"/>
          <p:cNvSpPr txBox="1"/>
          <p:nvPr userDrawn="1"/>
        </p:nvSpPr>
        <p:spPr>
          <a:xfrm>
            <a:off x="-2647787" y="-2281727"/>
            <a:ext cx="603192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40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0</a:t>
            </a:r>
            <a:endParaRPr kumimoji="0" lang="zh-CN" altLang="en-US" sz="7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40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870981" y="0"/>
            <a:ext cx="5321017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  <p:grpSp>
        <p:nvGrpSpPr>
          <p:cNvPr id="9" name="Group 6"/>
          <p:cNvGrpSpPr/>
          <p:nvPr userDrawn="1"/>
        </p:nvGrpSpPr>
        <p:grpSpPr bwMode="auto">
          <a:xfrm>
            <a:off x="778934" y="687917"/>
            <a:ext cx="3299884" cy="5425016"/>
            <a:chOff x="0" y="0"/>
            <a:chExt cx="2476153" cy="4069266"/>
          </a:xfrm>
          <a:solidFill>
            <a:schemeClr val="bg1">
              <a:alpha val="25000"/>
            </a:schemeClr>
          </a:solidFill>
        </p:grpSpPr>
        <p:sp>
          <p:nvSpPr>
            <p:cNvPr id="10" name="矩形 3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3" name="矩形 4"/>
            <p:cNvSpPr>
              <a:spLocks noChangeArrowheads="1"/>
            </p:cNvSpPr>
            <p:nvPr/>
          </p:nvSpPr>
          <p:spPr bwMode="auto">
            <a:xfrm>
              <a:off x="437624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4" name="矩形 5"/>
            <p:cNvSpPr>
              <a:spLocks noChangeArrowheads="1"/>
            </p:cNvSpPr>
            <p:nvPr/>
          </p:nvSpPr>
          <p:spPr bwMode="auto">
            <a:xfrm>
              <a:off x="875248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1312872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6" name="矩形 7"/>
            <p:cNvSpPr>
              <a:spLocks noChangeArrowheads="1"/>
            </p:cNvSpPr>
            <p:nvPr/>
          </p:nvSpPr>
          <p:spPr bwMode="auto">
            <a:xfrm>
              <a:off x="1750496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7" name="矩形 8"/>
            <p:cNvSpPr>
              <a:spLocks noChangeArrowheads="1"/>
            </p:cNvSpPr>
            <p:nvPr/>
          </p:nvSpPr>
          <p:spPr bwMode="auto">
            <a:xfrm>
              <a:off x="2188121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8" name="矩形 59"/>
            <p:cNvSpPr>
              <a:spLocks noChangeArrowheads="1"/>
            </p:cNvSpPr>
            <p:nvPr/>
          </p:nvSpPr>
          <p:spPr bwMode="auto">
            <a:xfrm>
              <a:off x="0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9" name="矩形 60"/>
            <p:cNvSpPr>
              <a:spLocks noChangeArrowheads="1"/>
            </p:cNvSpPr>
            <p:nvPr/>
          </p:nvSpPr>
          <p:spPr bwMode="auto">
            <a:xfrm>
              <a:off x="437624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0" name="矩形 61"/>
            <p:cNvSpPr>
              <a:spLocks noChangeArrowheads="1"/>
            </p:cNvSpPr>
            <p:nvPr/>
          </p:nvSpPr>
          <p:spPr bwMode="auto">
            <a:xfrm>
              <a:off x="875248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1" name="矩形 62"/>
            <p:cNvSpPr>
              <a:spLocks noChangeArrowheads="1"/>
            </p:cNvSpPr>
            <p:nvPr/>
          </p:nvSpPr>
          <p:spPr bwMode="auto">
            <a:xfrm>
              <a:off x="1312872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2" name="矩形 63"/>
            <p:cNvSpPr>
              <a:spLocks noChangeArrowheads="1"/>
            </p:cNvSpPr>
            <p:nvPr/>
          </p:nvSpPr>
          <p:spPr bwMode="auto">
            <a:xfrm>
              <a:off x="1750496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3" name="矩形 64"/>
            <p:cNvSpPr>
              <a:spLocks noChangeArrowheads="1"/>
            </p:cNvSpPr>
            <p:nvPr/>
          </p:nvSpPr>
          <p:spPr bwMode="auto">
            <a:xfrm>
              <a:off x="2188121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4" name="矩形 66"/>
            <p:cNvSpPr>
              <a:spLocks noChangeArrowheads="1"/>
            </p:cNvSpPr>
            <p:nvPr/>
          </p:nvSpPr>
          <p:spPr bwMode="auto">
            <a:xfrm>
              <a:off x="0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5" name="矩形 67"/>
            <p:cNvSpPr>
              <a:spLocks noChangeArrowheads="1"/>
            </p:cNvSpPr>
            <p:nvPr/>
          </p:nvSpPr>
          <p:spPr bwMode="auto">
            <a:xfrm>
              <a:off x="437624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6" name="矩形 68"/>
            <p:cNvSpPr>
              <a:spLocks noChangeArrowheads="1"/>
            </p:cNvSpPr>
            <p:nvPr/>
          </p:nvSpPr>
          <p:spPr bwMode="auto">
            <a:xfrm>
              <a:off x="875248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7" name="矩形 69"/>
            <p:cNvSpPr>
              <a:spLocks noChangeArrowheads="1"/>
            </p:cNvSpPr>
            <p:nvPr/>
          </p:nvSpPr>
          <p:spPr bwMode="auto">
            <a:xfrm>
              <a:off x="1312872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8" name="矩形 70"/>
            <p:cNvSpPr>
              <a:spLocks noChangeArrowheads="1"/>
            </p:cNvSpPr>
            <p:nvPr/>
          </p:nvSpPr>
          <p:spPr bwMode="auto">
            <a:xfrm>
              <a:off x="1750496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9" name="矩形 71"/>
            <p:cNvSpPr>
              <a:spLocks noChangeArrowheads="1"/>
            </p:cNvSpPr>
            <p:nvPr/>
          </p:nvSpPr>
          <p:spPr bwMode="auto">
            <a:xfrm>
              <a:off x="2188121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0" name="矩形 73"/>
            <p:cNvSpPr>
              <a:spLocks noChangeArrowheads="1"/>
            </p:cNvSpPr>
            <p:nvPr/>
          </p:nvSpPr>
          <p:spPr bwMode="auto">
            <a:xfrm>
              <a:off x="0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1" name="矩形 74"/>
            <p:cNvSpPr>
              <a:spLocks noChangeArrowheads="1"/>
            </p:cNvSpPr>
            <p:nvPr/>
          </p:nvSpPr>
          <p:spPr bwMode="auto">
            <a:xfrm>
              <a:off x="437624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2" name="矩形 75"/>
            <p:cNvSpPr>
              <a:spLocks noChangeArrowheads="1"/>
            </p:cNvSpPr>
            <p:nvPr/>
          </p:nvSpPr>
          <p:spPr bwMode="auto">
            <a:xfrm>
              <a:off x="875248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3" name="矩形 76"/>
            <p:cNvSpPr>
              <a:spLocks noChangeArrowheads="1"/>
            </p:cNvSpPr>
            <p:nvPr/>
          </p:nvSpPr>
          <p:spPr bwMode="auto">
            <a:xfrm>
              <a:off x="1312872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4" name="矩形 77"/>
            <p:cNvSpPr>
              <a:spLocks noChangeArrowheads="1"/>
            </p:cNvSpPr>
            <p:nvPr/>
          </p:nvSpPr>
          <p:spPr bwMode="auto">
            <a:xfrm>
              <a:off x="1750496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5" name="矩形 78"/>
            <p:cNvSpPr>
              <a:spLocks noChangeArrowheads="1"/>
            </p:cNvSpPr>
            <p:nvPr/>
          </p:nvSpPr>
          <p:spPr bwMode="auto">
            <a:xfrm>
              <a:off x="2188121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6" name="矩形 80"/>
            <p:cNvSpPr>
              <a:spLocks noChangeArrowheads="1"/>
            </p:cNvSpPr>
            <p:nvPr/>
          </p:nvSpPr>
          <p:spPr bwMode="auto">
            <a:xfrm>
              <a:off x="0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7" name="矩形 81"/>
            <p:cNvSpPr>
              <a:spLocks noChangeArrowheads="1"/>
            </p:cNvSpPr>
            <p:nvPr/>
          </p:nvSpPr>
          <p:spPr bwMode="auto">
            <a:xfrm>
              <a:off x="437624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8" name="矩形 82"/>
            <p:cNvSpPr>
              <a:spLocks noChangeArrowheads="1"/>
            </p:cNvSpPr>
            <p:nvPr/>
          </p:nvSpPr>
          <p:spPr bwMode="auto">
            <a:xfrm>
              <a:off x="875248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9" name="矩形 83"/>
            <p:cNvSpPr>
              <a:spLocks noChangeArrowheads="1"/>
            </p:cNvSpPr>
            <p:nvPr/>
          </p:nvSpPr>
          <p:spPr bwMode="auto">
            <a:xfrm>
              <a:off x="1312872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40" name="矩形 84"/>
            <p:cNvSpPr>
              <a:spLocks noChangeArrowheads="1"/>
            </p:cNvSpPr>
            <p:nvPr/>
          </p:nvSpPr>
          <p:spPr bwMode="auto">
            <a:xfrm>
              <a:off x="1750496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41" name="矩形 85"/>
            <p:cNvSpPr>
              <a:spLocks noChangeArrowheads="1"/>
            </p:cNvSpPr>
            <p:nvPr/>
          </p:nvSpPr>
          <p:spPr bwMode="auto">
            <a:xfrm>
              <a:off x="2188121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42" name="矩形 87"/>
            <p:cNvSpPr>
              <a:spLocks noChangeArrowheads="1"/>
            </p:cNvSpPr>
            <p:nvPr/>
          </p:nvSpPr>
          <p:spPr bwMode="auto">
            <a:xfrm>
              <a:off x="0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47" name="矩形 88"/>
            <p:cNvSpPr>
              <a:spLocks noChangeArrowheads="1"/>
            </p:cNvSpPr>
            <p:nvPr/>
          </p:nvSpPr>
          <p:spPr bwMode="auto">
            <a:xfrm>
              <a:off x="437624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48" name="矩形 89"/>
            <p:cNvSpPr>
              <a:spLocks noChangeArrowheads="1"/>
            </p:cNvSpPr>
            <p:nvPr/>
          </p:nvSpPr>
          <p:spPr bwMode="auto">
            <a:xfrm>
              <a:off x="875248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49" name="矩形 90"/>
            <p:cNvSpPr>
              <a:spLocks noChangeArrowheads="1"/>
            </p:cNvSpPr>
            <p:nvPr/>
          </p:nvSpPr>
          <p:spPr bwMode="auto">
            <a:xfrm>
              <a:off x="1312872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0" name="矩形 91"/>
            <p:cNvSpPr>
              <a:spLocks noChangeArrowheads="1"/>
            </p:cNvSpPr>
            <p:nvPr/>
          </p:nvSpPr>
          <p:spPr bwMode="auto">
            <a:xfrm>
              <a:off x="1750496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1" name="矩形 92"/>
            <p:cNvSpPr>
              <a:spLocks noChangeArrowheads="1"/>
            </p:cNvSpPr>
            <p:nvPr/>
          </p:nvSpPr>
          <p:spPr bwMode="auto">
            <a:xfrm>
              <a:off x="2188121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2" name="矩形 94"/>
            <p:cNvSpPr>
              <a:spLocks noChangeArrowheads="1"/>
            </p:cNvSpPr>
            <p:nvPr/>
          </p:nvSpPr>
          <p:spPr bwMode="auto">
            <a:xfrm>
              <a:off x="0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3" name="矩形 95"/>
            <p:cNvSpPr>
              <a:spLocks noChangeArrowheads="1"/>
            </p:cNvSpPr>
            <p:nvPr/>
          </p:nvSpPr>
          <p:spPr bwMode="auto">
            <a:xfrm>
              <a:off x="437624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4" name="矩形 96"/>
            <p:cNvSpPr>
              <a:spLocks noChangeArrowheads="1"/>
            </p:cNvSpPr>
            <p:nvPr/>
          </p:nvSpPr>
          <p:spPr bwMode="auto">
            <a:xfrm>
              <a:off x="875248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5" name="矩形 97"/>
            <p:cNvSpPr>
              <a:spLocks noChangeArrowheads="1"/>
            </p:cNvSpPr>
            <p:nvPr/>
          </p:nvSpPr>
          <p:spPr bwMode="auto">
            <a:xfrm>
              <a:off x="1312872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6" name="矩形 98"/>
            <p:cNvSpPr>
              <a:spLocks noChangeArrowheads="1"/>
            </p:cNvSpPr>
            <p:nvPr/>
          </p:nvSpPr>
          <p:spPr bwMode="auto">
            <a:xfrm>
              <a:off x="1750496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7" name="矩形 99"/>
            <p:cNvSpPr>
              <a:spLocks noChangeArrowheads="1"/>
            </p:cNvSpPr>
            <p:nvPr/>
          </p:nvSpPr>
          <p:spPr bwMode="auto">
            <a:xfrm>
              <a:off x="2188121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8" name="矩形 101"/>
            <p:cNvSpPr>
              <a:spLocks noChangeArrowheads="1"/>
            </p:cNvSpPr>
            <p:nvPr/>
          </p:nvSpPr>
          <p:spPr bwMode="auto">
            <a:xfrm>
              <a:off x="0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9" name="矩形 102"/>
            <p:cNvSpPr>
              <a:spLocks noChangeArrowheads="1"/>
            </p:cNvSpPr>
            <p:nvPr/>
          </p:nvSpPr>
          <p:spPr bwMode="auto">
            <a:xfrm>
              <a:off x="437624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0" name="矩形 103"/>
            <p:cNvSpPr>
              <a:spLocks noChangeArrowheads="1"/>
            </p:cNvSpPr>
            <p:nvPr/>
          </p:nvSpPr>
          <p:spPr bwMode="auto">
            <a:xfrm>
              <a:off x="875248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1" name="矩形 104"/>
            <p:cNvSpPr>
              <a:spLocks noChangeArrowheads="1"/>
            </p:cNvSpPr>
            <p:nvPr/>
          </p:nvSpPr>
          <p:spPr bwMode="auto">
            <a:xfrm>
              <a:off x="1312872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2" name="矩形 105"/>
            <p:cNvSpPr>
              <a:spLocks noChangeArrowheads="1"/>
            </p:cNvSpPr>
            <p:nvPr/>
          </p:nvSpPr>
          <p:spPr bwMode="auto">
            <a:xfrm>
              <a:off x="1750496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3" name="矩形 106"/>
            <p:cNvSpPr>
              <a:spLocks noChangeArrowheads="1"/>
            </p:cNvSpPr>
            <p:nvPr/>
          </p:nvSpPr>
          <p:spPr bwMode="auto">
            <a:xfrm>
              <a:off x="2188121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4" name="矩形 108"/>
            <p:cNvSpPr>
              <a:spLocks noChangeArrowheads="1"/>
            </p:cNvSpPr>
            <p:nvPr/>
          </p:nvSpPr>
          <p:spPr bwMode="auto">
            <a:xfrm>
              <a:off x="0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5" name="矩形 109"/>
            <p:cNvSpPr>
              <a:spLocks noChangeArrowheads="1"/>
            </p:cNvSpPr>
            <p:nvPr/>
          </p:nvSpPr>
          <p:spPr bwMode="auto">
            <a:xfrm>
              <a:off x="437624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6" name="矩形 110"/>
            <p:cNvSpPr>
              <a:spLocks noChangeArrowheads="1"/>
            </p:cNvSpPr>
            <p:nvPr/>
          </p:nvSpPr>
          <p:spPr bwMode="auto">
            <a:xfrm>
              <a:off x="875248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7" name="矩形 111"/>
            <p:cNvSpPr>
              <a:spLocks noChangeArrowheads="1"/>
            </p:cNvSpPr>
            <p:nvPr/>
          </p:nvSpPr>
          <p:spPr bwMode="auto">
            <a:xfrm>
              <a:off x="1312872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8" name="矩形 112"/>
            <p:cNvSpPr>
              <a:spLocks noChangeArrowheads="1"/>
            </p:cNvSpPr>
            <p:nvPr/>
          </p:nvSpPr>
          <p:spPr bwMode="auto">
            <a:xfrm>
              <a:off x="1750496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9" name="矩形 113"/>
            <p:cNvSpPr>
              <a:spLocks noChangeArrowheads="1"/>
            </p:cNvSpPr>
            <p:nvPr/>
          </p:nvSpPr>
          <p:spPr bwMode="auto">
            <a:xfrm>
              <a:off x="2188121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70" name="矩形 115"/>
            <p:cNvSpPr>
              <a:spLocks noChangeArrowheads="1"/>
            </p:cNvSpPr>
            <p:nvPr/>
          </p:nvSpPr>
          <p:spPr bwMode="auto">
            <a:xfrm>
              <a:off x="0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71" name="矩形 116"/>
            <p:cNvSpPr>
              <a:spLocks noChangeArrowheads="1"/>
            </p:cNvSpPr>
            <p:nvPr/>
          </p:nvSpPr>
          <p:spPr bwMode="auto">
            <a:xfrm>
              <a:off x="437624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72" name="矩形 117"/>
            <p:cNvSpPr>
              <a:spLocks noChangeArrowheads="1"/>
            </p:cNvSpPr>
            <p:nvPr/>
          </p:nvSpPr>
          <p:spPr bwMode="auto">
            <a:xfrm>
              <a:off x="875248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73" name="矩形 118"/>
            <p:cNvSpPr>
              <a:spLocks noChangeArrowheads="1"/>
            </p:cNvSpPr>
            <p:nvPr/>
          </p:nvSpPr>
          <p:spPr bwMode="auto">
            <a:xfrm>
              <a:off x="1312872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74" name="矩形 119"/>
            <p:cNvSpPr>
              <a:spLocks noChangeArrowheads="1"/>
            </p:cNvSpPr>
            <p:nvPr/>
          </p:nvSpPr>
          <p:spPr bwMode="auto">
            <a:xfrm>
              <a:off x="1750496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75" name="矩形 120"/>
            <p:cNvSpPr>
              <a:spLocks noChangeArrowheads="1"/>
            </p:cNvSpPr>
            <p:nvPr/>
          </p:nvSpPr>
          <p:spPr bwMode="auto">
            <a:xfrm>
              <a:off x="2188121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7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/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/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6" name="组合 105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6" name="组合 105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51" name="组合 50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51" name="组合 50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print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/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/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/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79" name="组合 78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79" name="组合 78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print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62" name="组合 6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62" name="组合 6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9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57" name="组合 56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57" name="组合 56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4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56" name="组合 55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56" name="组合 55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2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9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4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5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theme" Target="../theme/theme15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5" Type="http://schemas.openxmlformats.org/officeDocument/2006/relationships/theme" Target="../theme/theme16.xml"/><Relationship Id="rId4" Type="http://schemas.openxmlformats.org/officeDocument/2006/relationships/slideLayout" Target="../slideLayouts/slideLayout31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32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53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theme" Target="../theme/theme18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2025/12/15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2025/12/15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2025/12/15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2025/12/15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2025/12/15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2025/12/15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2025/12/15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2025/12/15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2025/12/15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2025/12/15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2025/12/15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2025/12/15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2025/12/15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2025/12/15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2025/12/15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2025/12/15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2025/12/15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7D9317-7C4B-477D-9FCD-CD5482370328}" type="datetimeFigureOut">
              <a:rPr lang="zh-CN" altLang="en-US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  <p:sldLayoutId id="2147483716" r:id="rId19"/>
    <p:sldLayoutId id="2147483717" r:id="rId20"/>
    <p:sldLayoutId id="2147483718" r:id="rId21"/>
    <p:sldLayoutId id="2147483719" r:id="rId22"/>
    <p:sldLayoutId id="2147483720" r:id="rId23"/>
    <p:sldLayoutId id="2147483721" r:id="rId2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slideLayout" Target="../slideLayouts/slideLayout20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3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33.xml"/><Relationship Id="rId4" Type="http://schemas.openxmlformats.org/officeDocument/2006/relationships/tags" Target="../tags/tag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3.xml"/><Relationship Id="rId1" Type="http://schemas.openxmlformats.org/officeDocument/2006/relationships/tags" Target="../tags/tag2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3.xml"/><Relationship Id="rId1" Type="http://schemas.openxmlformats.org/officeDocument/2006/relationships/tags" Target="../tags/tag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15938" y="4066432"/>
            <a:ext cx="11160124" cy="706755"/>
          </a:xfrm>
        </p:spPr>
        <p:txBody>
          <a:bodyPr/>
          <a:lstStyle/>
          <a:p>
            <a:r>
              <a:rPr lang="zh-CN" altLang="en-US"/>
              <a:t>中期汇报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6"/>
          </p:nvPr>
        </p:nvSpPr>
        <p:spPr>
          <a:xfrm>
            <a:off x="2141362" y="5529004"/>
            <a:ext cx="7909277" cy="370840"/>
          </a:xfrm>
        </p:spPr>
        <p:txBody>
          <a:bodyPr/>
          <a:lstStyle/>
          <a:p>
            <a:r>
              <a:rPr lang="zh-CN" altLang="en-US" dirty="0"/>
              <a:t>时间：</a:t>
            </a:r>
            <a:fld id="{DFF7108A-04D0-404E-9D44-4DF45664CBC8}" type="datetime1">
              <a:rPr lang="zh-CN" altLang="en-US" smtClean="0"/>
              <a:t>2025/12/15</a:t>
            </a:fld>
            <a:endParaRPr lang="en-US" altLang="zh-CN" dirty="0"/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>
            <p:custDataLst>
              <p:tags r:id="rId1"/>
            </p:custDataLst>
          </p:nvPr>
        </p:nvGrpSpPr>
        <p:grpSpPr>
          <a:xfrm>
            <a:off x="6135847" y="2924237"/>
            <a:ext cx="5844097" cy="511814"/>
            <a:chOff x="5181690" y="2820871"/>
            <a:chExt cx="6290318" cy="550893"/>
          </a:xfrm>
        </p:grpSpPr>
        <p:sp>
          <p:nvSpPr>
            <p:cNvPr id="4" name="椭圆 3"/>
            <p:cNvSpPr/>
            <p:nvPr>
              <p:custDataLst>
                <p:tags r:id="rId11"/>
              </p:custDataLst>
            </p:nvPr>
          </p:nvSpPr>
          <p:spPr>
            <a:xfrm>
              <a:off x="5181690" y="2820871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Century Gothic" panose="020B0502020202020204" pitchFamily="34" charset="0"/>
                </a:rPr>
                <a:t>1</a:t>
              </a:r>
              <a:endParaRPr lang="zh-CN" altLang="en-US" sz="2400" dirty="0">
                <a:latin typeface="Century Gothic" panose="020B0502020202020204" pitchFamily="34" charset="0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12"/>
              </p:custDataLst>
            </p:nvPr>
          </p:nvSpPr>
          <p:spPr>
            <a:xfrm>
              <a:off x="6025662" y="2880873"/>
              <a:ext cx="5446346" cy="397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2400" b="1" spc="300" dirty="0">
                  <a:solidFill>
                    <a:schemeClr val="tx1"/>
                  </a:solidFill>
                </a:rPr>
                <a:t>项目检测目标与结论</a:t>
              </a:r>
            </a:p>
          </p:txBody>
        </p:sp>
      </p:grpSp>
      <p:grpSp>
        <p:nvGrpSpPr>
          <p:cNvPr id="18" name="组合 17"/>
          <p:cNvGrpSpPr/>
          <p:nvPr>
            <p:custDataLst>
              <p:tags r:id="rId2"/>
            </p:custDataLst>
          </p:nvPr>
        </p:nvGrpSpPr>
        <p:grpSpPr>
          <a:xfrm>
            <a:off x="6137763" y="3825139"/>
            <a:ext cx="5844097" cy="511814"/>
            <a:chOff x="5181690" y="3693789"/>
            <a:chExt cx="6290318" cy="550893"/>
          </a:xfrm>
        </p:grpSpPr>
        <p:sp>
          <p:nvSpPr>
            <p:cNvPr id="5" name="椭圆 4"/>
            <p:cNvSpPr/>
            <p:nvPr>
              <p:custDataLst>
                <p:tags r:id="rId9"/>
              </p:custDataLst>
            </p:nvPr>
          </p:nvSpPr>
          <p:spPr>
            <a:xfrm>
              <a:off x="5181690" y="3693789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Century Gothic" panose="020B0502020202020204" pitchFamily="34" charset="0"/>
                </a:rPr>
                <a:t>2</a:t>
              </a:r>
              <a:endParaRPr lang="zh-CN" altLang="en-US" sz="2400" dirty="0">
                <a:latin typeface="Century Gothic" panose="020B0502020202020204" pitchFamily="34" charset="0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10"/>
              </p:custDataLst>
            </p:nvPr>
          </p:nvSpPr>
          <p:spPr>
            <a:xfrm>
              <a:off x="6025662" y="3748369"/>
              <a:ext cx="5446346" cy="397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2400" b="1" spc="300" dirty="0">
                  <a:sym typeface="+mn-ea"/>
                </a:rPr>
                <a:t>已完成的工作</a:t>
              </a:r>
            </a:p>
          </p:txBody>
        </p:sp>
      </p:grpSp>
      <p:grpSp>
        <p:nvGrpSpPr>
          <p:cNvPr id="17" name="组合 16"/>
          <p:cNvGrpSpPr/>
          <p:nvPr>
            <p:custDataLst>
              <p:tags r:id="rId3"/>
            </p:custDataLst>
          </p:nvPr>
        </p:nvGrpSpPr>
        <p:grpSpPr>
          <a:xfrm>
            <a:off x="6135847" y="4690275"/>
            <a:ext cx="5853574" cy="511814"/>
            <a:chOff x="5184190" y="4548742"/>
            <a:chExt cx="6300518" cy="550893"/>
          </a:xfrm>
        </p:grpSpPr>
        <p:sp>
          <p:nvSpPr>
            <p:cNvPr id="6" name="椭圆 5"/>
            <p:cNvSpPr/>
            <p:nvPr>
              <p:custDataLst>
                <p:tags r:id="rId7"/>
              </p:custDataLst>
            </p:nvPr>
          </p:nvSpPr>
          <p:spPr>
            <a:xfrm>
              <a:off x="5184190" y="4548742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Century Gothic" panose="020B0502020202020204" pitchFamily="34" charset="0"/>
                </a:rPr>
                <a:t>3</a:t>
              </a:r>
              <a:endParaRPr lang="zh-CN" altLang="en-US" sz="2400" dirty="0">
                <a:latin typeface="Century Gothic" panose="020B0502020202020204" pitchFamily="34" charset="0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8"/>
              </p:custDataLst>
            </p:nvPr>
          </p:nvSpPr>
          <p:spPr>
            <a:xfrm>
              <a:off x="6025662" y="4608744"/>
              <a:ext cx="5459046" cy="397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2400" b="1" spc="300" dirty="0">
                  <a:latin typeface="+mj-ea"/>
                  <a:ea typeface="+mj-ea"/>
                </a:rPr>
                <a:t>下一</a:t>
              </a:r>
              <a:r>
                <a:rPr sz="2400" b="1" spc="300" dirty="0">
                  <a:latin typeface="+mj-ea"/>
                  <a:ea typeface="+mj-ea"/>
                  <a:sym typeface="+mn-ea"/>
                </a:rPr>
                <a:t>阶段</a:t>
              </a:r>
              <a:r>
                <a:rPr lang="zh-CN" altLang="en-US" sz="2400" b="1" spc="300" dirty="0">
                  <a:latin typeface="+mj-ea"/>
                  <a:ea typeface="+mj-ea"/>
                </a:rPr>
                <a:t>计划</a:t>
              </a:r>
            </a:p>
          </p:txBody>
        </p:sp>
      </p:grpSp>
      <p:grpSp>
        <p:nvGrpSpPr>
          <p:cNvPr id="16" name="组合 15"/>
          <p:cNvGrpSpPr/>
          <p:nvPr>
            <p:custDataLst>
              <p:tags r:id="rId4"/>
            </p:custDataLst>
          </p:nvPr>
        </p:nvGrpSpPr>
        <p:grpSpPr>
          <a:xfrm>
            <a:off x="6135847" y="5565447"/>
            <a:ext cx="5844097" cy="511814"/>
            <a:chOff x="5181690" y="5404127"/>
            <a:chExt cx="6290318" cy="550893"/>
          </a:xfrm>
        </p:grpSpPr>
        <p:sp>
          <p:nvSpPr>
            <p:cNvPr id="7" name="椭圆 6"/>
            <p:cNvSpPr/>
            <p:nvPr>
              <p:custDataLst>
                <p:tags r:id="rId5"/>
              </p:custDataLst>
            </p:nvPr>
          </p:nvSpPr>
          <p:spPr>
            <a:xfrm>
              <a:off x="5181690" y="5404127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Century Gothic" panose="020B0502020202020204" pitchFamily="34" charset="0"/>
                </a:rPr>
                <a:t>4</a:t>
              </a:r>
              <a:endParaRPr lang="zh-CN" altLang="en-US" sz="2400" dirty="0">
                <a:latin typeface="Century Gothic" panose="020B0502020202020204" pitchFamily="34" charset="0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6"/>
              </p:custDataLst>
            </p:nvPr>
          </p:nvSpPr>
          <p:spPr>
            <a:xfrm>
              <a:off x="6025662" y="5469119"/>
              <a:ext cx="5446346" cy="397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2400" b="1" spc="300" dirty="0">
                  <a:latin typeface="+mj-ea"/>
                  <a:ea typeface="+mj-ea"/>
                </a:rPr>
                <a:t>项目安排更改说明</a:t>
              </a:r>
            </a:p>
          </p:txBody>
        </p:sp>
      </p:grpSp>
      <p:sp>
        <p:nvSpPr>
          <p:cNvPr id="23" name="文本占位符 5"/>
          <p:cNvSpPr txBox="1"/>
          <p:nvPr/>
        </p:nvSpPr>
        <p:spPr>
          <a:xfrm>
            <a:off x="1678166" y="3775845"/>
            <a:ext cx="2762739" cy="9143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6000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目录</a:t>
            </a:r>
          </a:p>
        </p:txBody>
      </p:sp>
      <p:sp>
        <p:nvSpPr>
          <p:cNvPr id="24" name="文本占位符 8"/>
          <p:cNvSpPr txBox="1"/>
          <p:nvPr/>
        </p:nvSpPr>
        <p:spPr>
          <a:xfrm>
            <a:off x="2063073" y="4793977"/>
            <a:ext cx="1992924" cy="3608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Tx/>
              <a:buNone/>
              <a:defRPr sz="2000" b="0" kern="1200" baseline="0">
                <a:solidFill>
                  <a:schemeClr val="accent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CONTENTS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767873" y="5369423"/>
            <a:ext cx="583324" cy="617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3662994" y="4283909"/>
            <a:ext cx="5800091" cy="782043"/>
            <a:chOff x="5181690" y="2820871"/>
            <a:chExt cx="4085747" cy="550893"/>
          </a:xfrm>
        </p:grpSpPr>
        <p:sp>
          <p:nvSpPr>
            <p:cNvPr id="4" name="椭圆 3"/>
            <p:cNvSpPr/>
            <p:nvPr/>
          </p:nvSpPr>
          <p:spPr>
            <a:xfrm>
              <a:off x="5181690" y="2820871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 dirty="0">
                  <a:latin typeface="Century Gothic" panose="020B0502020202020204" pitchFamily="34" charset="0"/>
                </a:rPr>
                <a:t>1</a:t>
              </a:r>
              <a:endParaRPr lang="zh-CN" altLang="en-US" sz="4400" dirty="0">
                <a:latin typeface="Century Gothic" panose="020B0502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988641" y="2888415"/>
              <a:ext cx="3278796" cy="39005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3600" b="1" spc="300" dirty="0">
                  <a:sym typeface="+mn-ea"/>
                </a:rPr>
                <a:t>项目检测目标与结论</a:t>
              </a:r>
              <a:endParaRPr lang="zh-CN" altLang="en-US" sz="3600" b="1" spc="3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spc="300" dirty="0">
                <a:sym typeface="+mn-ea"/>
              </a:rPr>
              <a:t>项目检测目标与结论</a:t>
            </a:r>
            <a:endParaRPr lang="zh-CN" altLang="en-US"/>
          </a:p>
        </p:txBody>
      </p:sp>
      <p:sp>
        <p:nvSpPr>
          <p:cNvPr id="8" name="平行四边形 7"/>
          <p:cNvSpPr/>
          <p:nvPr/>
        </p:nvSpPr>
        <p:spPr>
          <a:xfrm>
            <a:off x="301667" y="1626014"/>
            <a:ext cx="5724000" cy="3207658"/>
          </a:xfrm>
          <a:prstGeom prst="parallelogram">
            <a:avLst/>
          </a:prstGeom>
          <a:noFill/>
          <a:ln w="38100">
            <a:gradFill>
              <a:gsLst>
                <a:gs pos="20000">
                  <a:srgbClr val="003378">
                    <a:alpha val="0"/>
                  </a:srgbClr>
                </a:gs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2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/>
        </p:nvSpPr>
        <p:spPr>
          <a:xfrm>
            <a:off x="5484495" y="2366010"/>
            <a:ext cx="7859395" cy="3518535"/>
          </a:xfrm>
          <a:prstGeom prst="parallelogram">
            <a:avLst/>
          </a:prstGeom>
          <a:noFill/>
          <a:ln w="38100">
            <a:gradFill>
              <a:gsLst>
                <a:gs pos="20000">
                  <a:srgbClr val="003378">
                    <a:alpha val="0"/>
                  </a:srgbClr>
                </a:gs>
                <a:gs pos="0">
                  <a:schemeClr val="accent1">
                    <a:alpha val="0"/>
                  </a:schemeClr>
                </a:gs>
                <a:gs pos="100000">
                  <a:schemeClr val="accent4"/>
                </a:gs>
              </a:gsLst>
              <a:lin ang="96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231890" y="3327400"/>
            <a:ext cx="5585460" cy="19607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just"/>
            <a:r>
              <a:rPr lang="zh-CN" altLang="en-US" sz="2000" dirty="0"/>
              <a:t>我们已经完成大部分测试材料</a:t>
            </a:r>
            <a:r>
              <a:rPr lang="en-US" altLang="zh-CN" sz="2000" dirty="0"/>
              <a:t>   (QtTest </a:t>
            </a:r>
            <a:r>
              <a:rPr lang="zh-CN" altLang="en-US" sz="2000" dirty="0"/>
              <a:t>源、功能测试截图、性能脚本、易用性问卷</a:t>
            </a:r>
            <a:r>
              <a:rPr lang="en-US" altLang="zh-CN" sz="2000" dirty="0"/>
              <a:t>)</a:t>
            </a:r>
            <a:r>
              <a:rPr lang="zh-CN" altLang="en-US" sz="2000" dirty="0"/>
              <a:t>，但缺少可复现的运行日志、</a:t>
            </a:r>
            <a:r>
              <a:rPr lang="en-US" altLang="zh-CN" sz="2000" dirty="0"/>
              <a:t>JUnit/XML </a:t>
            </a:r>
            <a:r>
              <a:rPr lang="zh-CN" altLang="en-US" sz="2000" dirty="0"/>
              <a:t>报表、和</a:t>
            </a:r>
            <a:r>
              <a:rPr lang="en-US" altLang="zh-CN" sz="2000" dirty="0"/>
              <a:t>Cl</a:t>
            </a:r>
            <a:r>
              <a:rPr lang="zh-CN" altLang="en-US" sz="2000" dirty="0"/>
              <a:t>集成计划在下一阶段的工作中重点开展这些方面的测试。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731000" y="2670175"/>
            <a:ext cx="4668520" cy="5594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spc="300" dirty="0">
                <a:solidFill>
                  <a:schemeClr val="accent4"/>
                </a:solidFill>
                <a:latin typeface="+mj-ea"/>
                <a:ea typeface="+mj-ea"/>
              </a:rPr>
              <a:t>项目检测结论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01625" y="2949575"/>
            <a:ext cx="5035550" cy="1200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r>
              <a:rPr lang="zh-CN" altLang="en-US" sz="2000" dirty="0"/>
              <a:t>对项目进行</a:t>
            </a:r>
            <a:r>
              <a:rPr lang="zh-CN" altLang="en-US" sz="2000" b="1" dirty="0"/>
              <a:t>单元测试</a:t>
            </a:r>
            <a:r>
              <a:rPr lang="zh-CN" altLang="en-US" sz="2000" dirty="0"/>
              <a:t>、</a:t>
            </a:r>
            <a:r>
              <a:rPr lang="zh-CN" altLang="en-US" sz="2000" b="1" dirty="0"/>
              <a:t>功能测试</a:t>
            </a:r>
            <a:r>
              <a:rPr lang="zh-CN" altLang="en-US" sz="2000" dirty="0"/>
              <a:t>、</a:t>
            </a:r>
            <a:r>
              <a:rPr lang="zh-CN" altLang="en-US" sz="2000" b="1" dirty="0"/>
              <a:t>性能测试</a:t>
            </a:r>
            <a:r>
              <a:rPr lang="zh-CN" altLang="en-US" sz="2000" dirty="0"/>
              <a:t>与</a:t>
            </a:r>
            <a:r>
              <a:rPr lang="zh-CN" altLang="en-US" sz="2000" b="1" dirty="0"/>
              <a:t>易用性测试</a:t>
            </a:r>
            <a:r>
              <a:rPr lang="zh-CN" altLang="en-US" sz="2000" dirty="0"/>
              <a:t>，总结已完成工作、缺口，并与下一步计划进行汇总。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560705" y="2026920"/>
            <a:ext cx="4460240" cy="5594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2800" b="1" spc="300" dirty="0">
                <a:solidFill>
                  <a:schemeClr val="accent1"/>
                </a:solidFill>
                <a:latin typeface="+mj-ea"/>
                <a:ea typeface="+mj-ea"/>
              </a:rPr>
              <a:t>项目检测目标</a:t>
            </a:r>
          </a:p>
        </p:txBody>
      </p: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1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4089714" y="4283909"/>
            <a:ext cx="6538595" cy="782043"/>
            <a:chOff x="5181690" y="2820871"/>
            <a:chExt cx="4605970" cy="550893"/>
          </a:xfrm>
        </p:grpSpPr>
        <p:sp>
          <p:nvSpPr>
            <p:cNvPr id="4" name="椭圆 3"/>
            <p:cNvSpPr/>
            <p:nvPr/>
          </p:nvSpPr>
          <p:spPr>
            <a:xfrm>
              <a:off x="5181690" y="2820871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 dirty="0">
                  <a:latin typeface="Century Gothic" panose="020B0502020202020204" pitchFamily="34" charset="0"/>
                </a:rPr>
                <a:t>2</a:t>
              </a:r>
              <a:endParaRPr lang="zh-CN" altLang="en-US" sz="4400" dirty="0">
                <a:latin typeface="Century Gothic" panose="020B0502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988641" y="2888415"/>
              <a:ext cx="3799019" cy="39005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3600" b="1" spc="300" dirty="0">
                  <a:sym typeface="+mn-ea"/>
                </a:rPr>
                <a:t>已完成的工作</a:t>
              </a:r>
              <a:endParaRPr lang="zh-CN" altLang="en-US" sz="3600" b="1" spc="3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spc="300" dirty="0">
                <a:sym typeface="+mn-ea"/>
              </a:rPr>
              <a:t>已完成的工作</a:t>
            </a:r>
            <a:endParaRPr lang="zh-CN" altLang="en-US"/>
          </a:p>
        </p:txBody>
      </p:sp>
      <p:sp>
        <p:nvSpPr>
          <p:cNvPr id="11" name="内容占位符 1"/>
          <p:cNvSpPr txBox="1"/>
          <p:nvPr/>
        </p:nvSpPr>
        <p:spPr>
          <a:xfrm>
            <a:off x="1421130" y="1076960"/>
            <a:ext cx="9439275" cy="541655"/>
          </a:xfrm>
          <a:prstGeom prst="rect">
            <a:avLst/>
          </a:prstGeom>
        </p:spPr>
        <p:txBody>
          <a:bodyPr vert="horz" lIns="0" tIns="0" rIns="0" bIns="0"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①</a:t>
            </a:r>
            <a:r>
              <a:rPr kumimoji="0" lang="en-US" altLang="zh-CN" sz="24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单元测试：</a:t>
            </a:r>
          </a:p>
        </p:txBody>
      </p:sp>
      <p:sp>
        <p:nvSpPr>
          <p:cNvPr id="12" name="半闭框 11"/>
          <p:cNvSpPr/>
          <p:nvPr/>
        </p:nvSpPr>
        <p:spPr>
          <a:xfrm>
            <a:off x="792285" y="1067445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半闭框 12"/>
          <p:cNvSpPr/>
          <p:nvPr/>
        </p:nvSpPr>
        <p:spPr>
          <a:xfrm flipH="1" flipV="1">
            <a:off x="11120364" y="5578289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2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3" name="内容占位符 1"/>
          <p:cNvSpPr txBox="1"/>
          <p:nvPr/>
        </p:nvSpPr>
        <p:spPr>
          <a:xfrm>
            <a:off x="887730" y="1684020"/>
            <a:ext cx="5207635" cy="4375150"/>
          </a:xfrm>
          <a:prstGeom prst="rect">
            <a:avLst/>
          </a:prstGeom>
        </p:spPr>
        <p:txBody>
          <a:bodyPr vert="horz" lIns="0" tIns="0" rIns="0" bIns="0" rtlCol="0">
            <a:normAutofit fontScale="87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测试介绍：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我们使用了</a:t>
            </a: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QT Creator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自带的</a:t>
            </a: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QT Test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工具，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编写了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对应测试文件</a:t>
            </a: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tst_*.cpp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点击下方功能栏运行测试，即可开始。</a:t>
            </a: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测试内容：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实现场景快照的撤销</a:t>
            </a: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重做命令；可编辑文本图元，支持双击编辑、焦点丢失处理及选中状态信号；流程图主场景，管理图元创建、颜色</a:t>
            </a: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字体设置、文本项焦点处理及信号发射；连接两个</a:t>
            </a: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DiagramItem 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的路径线；流程图基础图元（步骤、判断、输入输出等）；删除图元的撤销命令；连接两个</a:t>
            </a: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DiagramItem 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的箭头。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3C850E8-B1C8-3F28-370D-3A90D4BFA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801" y="1144145"/>
            <a:ext cx="3385814" cy="498588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spc="300" dirty="0">
                <a:sym typeface="+mn-ea"/>
              </a:rPr>
              <a:t>已完成的工作</a:t>
            </a:r>
            <a:endParaRPr lang="zh-CN" altLang="en-US"/>
          </a:p>
        </p:txBody>
      </p:sp>
      <p:sp>
        <p:nvSpPr>
          <p:cNvPr id="11" name="内容占位符 1"/>
          <p:cNvSpPr txBox="1"/>
          <p:nvPr/>
        </p:nvSpPr>
        <p:spPr>
          <a:xfrm>
            <a:off x="1421130" y="1076960"/>
            <a:ext cx="9439275" cy="541655"/>
          </a:xfrm>
          <a:prstGeom prst="rect">
            <a:avLst/>
          </a:prstGeom>
        </p:spPr>
        <p:txBody>
          <a:bodyPr vert="horz" lIns="0" tIns="0" rIns="0" bIns="0"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①</a:t>
            </a:r>
            <a:r>
              <a:rPr kumimoji="0" lang="en-US" altLang="zh-CN" sz="24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单元测试：</a:t>
            </a: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2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445770" y="1812290"/>
          <a:ext cx="11337290" cy="3697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5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1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测试功能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测试内容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SnapshotCommand </a:t>
                      </a:r>
                      <a:r>
                        <a:rPr lang="zh-CN" altLang="en-US"/>
                        <a:t>测试</a:t>
                      </a:r>
                      <a:r>
                        <a:rPr lang="en-US" altLang="zh-CN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构造安全性、场景清除与快照恢复、多次</a:t>
                      </a:r>
                      <a:r>
                        <a:rPr lang="en-US" altLang="zh-CN"/>
                        <a:t> undo/redo </a:t>
                      </a:r>
                      <a:r>
                        <a:rPr lang="zh-CN" altLang="en-US"/>
                        <a:t>一致性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DiagramTextItem </a:t>
                      </a:r>
                      <a:r>
                        <a:rPr lang="zh-CN" altLang="en-US"/>
                        <a:t>测试</a:t>
                      </a:r>
                      <a:r>
                        <a:rPr lang="en-US" altLang="zh-CN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构造与默认属性、文本设置、信号发射、交互逻辑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DiagramScene </a:t>
                      </a:r>
                      <a:r>
                        <a:rPr lang="zh-CN" altLang="en-US"/>
                        <a:t>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图元创建、属性访问器、文本项焦点处理、信号验证、规避私有成员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DiagramPath </a:t>
                      </a:r>
                      <a:r>
                        <a:rPr lang="zh-CN" altLang="en-US"/>
                        <a:t>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构造与更新、多状态组合、前置条件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DiagramItemGroup </a:t>
                      </a:r>
                      <a:r>
                        <a:rPr lang="zh-CN" altLang="en-US"/>
                        <a:t>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基本生命周期、项管理、边界矩形计算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DiagramItem </a:t>
                      </a:r>
                      <a:r>
                        <a:rPr lang="zh-CN" altLang="en-US"/>
                        <a:t>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构造与类型、几何属性、外观设置、多类型支持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DeleteCommand </a:t>
                      </a:r>
                      <a:r>
                        <a:rPr lang="zh-CN" altLang="en-US"/>
                        <a:t>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删除与恢复、状态保持、健壮性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Arrow </a:t>
                      </a:r>
                      <a:r>
                        <a:rPr lang="zh-CN" altLang="en-US"/>
                        <a:t>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初始化、位置更新、绘制安全性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A8886-77DD-D738-DB81-A7D1AA14B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81E6D62C-6FA5-B5E4-A09D-64549528B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spc="300" dirty="0">
                <a:sym typeface="+mn-ea"/>
              </a:rPr>
              <a:t>已完成的工作</a:t>
            </a:r>
            <a:endParaRPr lang="zh-CN" altLang="en-US"/>
          </a:p>
        </p:txBody>
      </p:sp>
      <p:sp>
        <p:nvSpPr>
          <p:cNvPr id="11" name="内容占位符 1">
            <a:extLst>
              <a:ext uri="{FF2B5EF4-FFF2-40B4-BE49-F238E27FC236}">
                <a16:creationId xmlns:a16="http://schemas.microsoft.com/office/drawing/2014/main" id="{F6C1BE6F-BEE4-9D61-1B1A-9DC11CEA0CA0}"/>
              </a:ext>
            </a:extLst>
          </p:cNvPr>
          <p:cNvSpPr txBox="1"/>
          <p:nvPr/>
        </p:nvSpPr>
        <p:spPr>
          <a:xfrm>
            <a:off x="1421130" y="1076960"/>
            <a:ext cx="9439275" cy="541655"/>
          </a:xfrm>
          <a:prstGeom prst="rect">
            <a:avLst/>
          </a:prstGeom>
        </p:spPr>
        <p:txBody>
          <a:bodyPr vert="horz" lIns="0" tIns="0" rIns="0" bIns="0"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①</a:t>
            </a:r>
            <a:r>
              <a:rPr kumimoji="0" lang="en-US" altLang="zh-CN" sz="24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单元测试：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234E428-B609-87BE-ED67-5DDCB7FBC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2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83662"/>
            <a:ext cx="5455285" cy="3176905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4CB982-97D6-8586-053F-DBA8EBDDC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89" y="1872115"/>
            <a:ext cx="4952381" cy="3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67932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spc="300" dirty="0">
                <a:sym typeface="+mn-ea"/>
              </a:rPr>
              <a:t>已完成的工作</a:t>
            </a:r>
            <a:endParaRPr lang="zh-CN" altLang="en-US"/>
          </a:p>
        </p:txBody>
      </p:sp>
      <p:sp>
        <p:nvSpPr>
          <p:cNvPr id="11" name="内容占位符 1"/>
          <p:cNvSpPr txBox="1"/>
          <p:nvPr/>
        </p:nvSpPr>
        <p:spPr>
          <a:xfrm>
            <a:off x="1421130" y="1076960"/>
            <a:ext cx="9439275" cy="541655"/>
          </a:xfrm>
          <a:prstGeom prst="rect">
            <a:avLst/>
          </a:prstGeom>
        </p:spPr>
        <p:txBody>
          <a:bodyPr vert="horz" lIns="0" tIns="0" rIns="0" bIns="0"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②</a:t>
            </a:r>
            <a:r>
              <a:rPr kumimoji="0" lang="en-US" altLang="zh-CN" sz="24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功能测试：</a:t>
            </a:r>
          </a:p>
        </p:txBody>
      </p:sp>
      <p:sp>
        <p:nvSpPr>
          <p:cNvPr id="12" name="半闭框 11"/>
          <p:cNvSpPr/>
          <p:nvPr/>
        </p:nvSpPr>
        <p:spPr>
          <a:xfrm>
            <a:off x="792285" y="1067445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半闭框 12"/>
          <p:cNvSpPr/>
          <p:nvPr/>
        </p:nvSpPr>
        <p:spPr>
          <a:xfrm flipH="1" flipV="1">
            <a:off x="11120364" y="5578289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2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3" name="内容占位符 1"/>
          <p:cNvSpPr txBox="1"/>
          <p:nvPr/>
        </p:nvSpPr>
        <p:spPr>
          <a:xfrm>
            <a:off x="1040130" y="1618615"/>
            <a:ext cx="4629150" cy="4375150"/>
          </a:xfrm>
          <a:prstGeom prst="rect">
            <a:avLst/>
          </a:prstGeom>
        </p:spPr>
        <p:txBody>
          <a:bodyPr vert="horz" lIns="0" tIns="0" rIns="0" bIns="0" rtlCol="0">
            <a:normAutofit fontScale="97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测试目的：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验证</a:t>
            </a: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Flowchart Editor 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应用的各项功能是否按照预期正常工作，确保用户能够正常使用流程图编辑器的所有核心功能</a:t>
            </a: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测试内容：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涵盖流程图编辑器的主要功能模块，包括但不限于：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节点创建与管理、连接线功能、流程图保存与加载、用户界面交互、数据处理功能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240" y="1362710"/>
            <a:ext cx="5934075" cy="413321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spc="300" dirty="0">
                <a:sym typeface="+mn-ea"/>
              </a:rPr>
              <a:t>已完成的工作</a:t>
            </a:r>
            <a:endParaRPr lang="zh-CN" altLang="en-US"/>
          </a:p>
        </p:txBody>
      </p:sp>
      <p:sp>
        <p:nvSpPr>
          <p:cNvPr id="11" name="内容占位符 1"/>
          <p:cNvSpPr txBox="1"/>
          <p:nvPr/>
        </p:nvSpPr>
        <p:spPr>
          <a:xfrm>
            <a:off x="1421130" y="1076960"/>
            <a:ext cx="9439275" cy="541655"/>
          </a:xfrm>
          <a:prstGeom prst="rect">
            <a:avLst/>
          </a:prstGeom>
        </p:spPr>
        <p:txBody>
          <a:bodyPr vert="horz" lIns="0" tIns="0" rIns="0" bIns="0"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②</a:t>
            </a:r>
            <a:r>
              <a:rPr lang="en-US" altLang="zh-CN" sz="24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功能测试：</a:t>
            </a:r>
            <a:endParaRPr kumimoji="0" lang="zh-CN" altLang="en-US" sz="2400" b="1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2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73660" y="2067560"/>
          <a:ext cx="288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6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测试编号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测试描述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TC_001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启动与主界面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TC_</a:t>
                      </a:r>
                      <a:r>
                        <a:rPr lang="en-US" altLang="zh-CN" sz="1600"/>
                        <a:t>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新建流程图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TC_003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保存流程图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TC_004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加载流程图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3085465" y="2067560"/>
          <a:ext cx="2880000" cy="38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测试编号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测试描述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TC_005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创建矩形节点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TC_006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创建椭圆节点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TC_007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创建菱形节点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TC_008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创建三角形节点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TC_009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创建文本节点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TC_010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编辑节点文本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TC_011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删除节点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TC_012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移动节点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6097270" y="2067560"/>
          <a:ext cx="2870655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测试编号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测试描述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TC_013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创建连接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TC_014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删除连接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TC_015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连接线样式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4"/>
            </p:custDataLst>
          </p:nvPr>
        </p:nvGraphicFramePr>
        <p:xfrm>
          <a:off x="9100185" y="2067560"/>
          <a:ext cx="283065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测试编号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测试描述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TC_016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工具栏操作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TC_017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右键菜单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TC_018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快捷键支持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TC_019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画布缩放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TC_020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导出图片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内容占位符 1"/>
          <p:cNvSpPr txBox="1"/>
          <p:nvPr/>
        </p:nvSpPr>
        <p:spPr>
          <a:xfrm>
            <a:off x="699770" y="1618615"/>
            <a:ext cx="1626870" cy="386080"/>
          </a:xfrm>
          <a:prstGeom prst="rect">
            <a:avLst/>
          </a:prstGeom>
        </p:spPr>
        <p:txBody>
          <a:bodyPr vert="horz" lIns="0" tIns="0" rIns="0" bIns="0"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基础功能测试</a:t>
            </a:r>
          </a:p>
        </p:txBody>
      </p:sp>
      <p:sp>
        <p:nvSpPr>
          <p:cNvPr id="12" name="内容占位符 1"/>
          <p:cNvSpPr txBox="1"/>
          <p:nvPr/>
        </p:nvSpPr>
        <p:spPr>
          <a:xfrm>
            <a:off x="3712210" y="1618615"/>
            <a:ext cx="1626870" cy="386080"/>
          </a:xfrm>
          <a:prstGeom prst="rect">
            <a:avLst/>
          </a:prstGeom>
        </p:spPr>
        <p:txBody>
          <a:bodyPr vert="horz" lIns="0" tIns="0" rIns="0" bIns="0"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节点操作功能</a:t>
            </a:r>
          </a:p>
        </p:txBody>
      </p:sp>
      <p:sp>
        <p:nvSpPr>
          <p:cNvPr id="13" name="内容占位符 1"/>
          <p:cNvSpPr txBox="1"/>
          <p:nvPr/>
        </p:nvSpPr>
        <p:spPr>
          <a:xfrm>
            <a:off x="6847840" y="1618615"/>
            <a:ext cx="1369695" cy="386080"/>
          </a:xfrm>
          <a:prstGeom prst="rect">
            <a:avLst/>
          </a:prstGeom>
        </p:spPr>
        <p:txBody>
          <a:bodyPr vert="horz" lIns="0" tIns="0" rIns="0" bIns="0"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连接线功能</a:t>
            </a:r>
          </a:p>
        </p:txBody>
      </p:sp>
      <p:sp>
        <p:nvSpPr>
          <p:cNvPr id="15" name="内容占位符 1"/>
          <p:cNvSpPr txBox="1"/>
          <p:nvPr/>
        </p:nvSpPr>
        <p:spPr>
          <a:xfrm>
            <a:off x="9695815" y="1681480"/>
            <a:ext cx="1626870" cy="386080"/>
          </a:xfrm>
          <a:prstGeom prst="rect">
            <a:avLst/>
          </a:prstGeom>
        </p:spPr>
        <p:txBody>
          <a:bodyPr vert="horz" lIns="0" tIns="0" rIns="0" bIns="0"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用户界面功能</a:t>
            </a:r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CE50A-8F50-66A1-8DDD-04949116E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2D676702-69E5-9F87-30B0-D5F01042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spc="300" dirty="0">
                <a:sym typeface="+mn-ea"/>
              </a:rPr>
              <a:t>已完成的工作</a:t>
            </a:r>
            <a:endParaRPr lang="zh-CN" altLang="en-US"/>
          </a:p>
        </p:txBody>
      </p:sp>
      <p:sp>
        <p:nvSpPr>
          <p:cNvPr id="11" name="内容占位符 1">
            <a:extLst>
              <a:ext uri="{FF2B5EF4-FFF2-40B4-BE49-F238E27FC236}">
                <a16:creationId xmlns:a16="http://schemas.microsoft.com/office/drawing/2014/main" id="{8252CCF9-A6F2-63AB-ACED-00BDF446E4D5}"/>
              </a:ext>
            </a:extLst>
          </p:cNvPr>
          <p:cNvSpPr txBox="1"/>
          <p:nvPr/>
        </p:nvSpPr>
        <p:spPr>
          <a:xfrm>
            <a:off x="1421130" y="1076960"/>
            <a:ext cx="9439275" cy="541655"/>
          </a:xfrm>
          <a:prstGeom prst="rect">
            <a:avLst/>
          </a:prstGeom>
        </p:spPr>
        <p:txBody>
          <a:bodyPr vert="horz" lIns="0" tIns="0" rIns="0" bIns="0"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②</a:t>
            </a:r>
            <a:r>
              <a:rPr lang="en-US" altLang="zh-CN" sz="24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功能测试：</a:t>
            </a:r>
            <a:endParaRPr kumimoji="0" lang="zh-CN" altLang="en-US" sz="2400" b="1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5A085B1-C722-8A39-C83E-8A4EFB468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2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pic>
        <p:nvPicPr>
          <p:cNvPr id="2" name="图片 4">
            <a:extLst>
              <a:ext uri="{FF2B5EF4-FFF2-40B4-BE49-F238E27FC236}">
                <a16:creationId xmlns:a16="http://schemas.microsoft.com/office/drawing/2014/main" id="{F705D359-E0AB-71DF-D434-34386D4AD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449" y="1759036"/>
            <a:ext cx="649605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39114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spc="300" dirty="0">
                <a:sym typeface="+mn-ea"/>
              </a:rPr>
              <a:t>已完成的工作</a:t>
            </a:r>
            <a:endParaRPr lang="zh-CN" altLang="en-US"/>
          </a:p>
        </p:txBody>
      </p:sp>
      <p:sp>
        <p:nvSpPr>
          <p:cNvPr id="11" name="内容占位符 1"/>
          <p:cNvSpPr txBox="1"/>
          <p:nvPr/>
        </p:nvSpPr>
        <p:spPr>
          <a:xfrm>
            <a:off x="1421130" y="1076960"/>
            <a:ext cx="9439275" cy="541655"/>
          </a:xfrm>
          <a:prstGeom prst="rect">
            <a:avLst/>
          </a:prstGeom>
        </p:spPr>
        <p:txBody>
          <a:bodyPr vert="horz" lIns="0" tIns="0" rIns="0" bIns="0"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③</a:t>
            </a:r>
            <a:r>
              <a:rPr kumimoji="0" lang="en-US" altLang="zh-CN" sz="24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性能测试：</a:t>
            </a:r>
          </a:p>
        </p:txBody>
      </p:sp>
      <p:sp>
        <p:nvSpPr>
          <p:cNvPr id="12" name="半闭框 11"/>
          <p:cNvSpPr/>
          <p:nvPr/>
        </p:nvSpPr>
        <p:spPr>
          <a:xfrm>
            <a:off x="792285" y="1067445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半闭框 12"/>
          <p:cNvSpPr/>
          <p:nvPr/>
        </p:nvSpPr>
        <p:spPr>
          <a:xfrm flipH="1" flipV="1">
            <a:off x="11120364" y="5578289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2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3" name="内容占位符 1"/>
          <p:cNvSpPr txBox="1"/>
          <p:nvPr/>
        </p:nvSpPr>
        <p:spPr>
          <a:xfrm>
            <a:off x="1040130" y="1618615"/>
            <a:ext cx="5774055" cy="4375150"/>
          </a:xfrm>
          <a:prstGeom prst="rect">
            <a:avLst/>
          </a:prstGeom>
        </p:spPr>
        <p:txBody>
          <a:bodyPr vert="horz" lIns="0" tIns="0" rIns="0" bIns="0" rtlCol="0">
            <a:normAutofit fontScale="90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测试介绍：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我们采用自动化脚本模拟的方式进行测试，通过增加操作数量的方式测试项目的稳定性与功能的实现效果。</a:t>
            </a: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测试内容：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本次性能测试涵盖六大场景，通过自动化脚本模拟真实用户操作，并且每项测试都进行了</a:t>
            </a: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次，确保减小误差：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批量节点插入性能测试、场景拖拽性能测试、场景缩放性能测试、场景框选性能测试、撤销重做（</a:t>
            </a: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Undo/Redo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）性能测试、文件保存与加载性能测试</a:t>
            </a: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0D4EDF8-FFC7-80EB-534E-B0881BCE7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0939" y="1041700"/>
            <a:ext cx="2839931" cy="495206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spc="300" dirty="0">
                <a:sym typeface="+mn-ea"/>
              </a:rPr>
              <a:t>已完成的工作</a:t>
            </a:r>
            <a:endParaRPr lang="zh-CN" altLang="en-US"/>
          </a:p>
        </p:txBody>
      </p:sp>
      <p:sp>
        <p:nvSpPr>
          <p:cNvPr id="11" name="内容占位符 1"/>
          <p:cNvSpPr txBox="1"/>
          <p:nvPr/>
        </p:nvSpPr>
        <p:spPr>
          <a:xfrm>
            <a:off x="1421130" y="1076960"/>
            <a:ext cx="9439275" cy="541655"/>
          </a:xfrm>
          <a:prstGeom prst="rect">
            <a:avLst/>
          </a:prstGeom>
        </p:spPr>
        <p:txBody>
          <a:bodyPr vert="horz" lIns="0" tIns="0" rIns="0" bIns="0"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③</a:t>
            </a:r>
            <a:r>
              <a:rPr lang="en-US" altLang="zh-CN" sz="24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性能测试：</a:t>
            </a:r>
            <a:endParaRPr kumimoji="0" lang="zh-CN" altLang="en-US" sz="2400" b="1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2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445770" y="2225675"/>
          <a:ext cx="11337290" cy="289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5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1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测试功能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测试内容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批量插入性能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测量连续插入</a:t>
                      </a:r>
                      <a:r>
                        <a:rPr lang="en-US" altLang="zh-CN"/>
                        <a:t>1000</a:t>
                      </a:r>
                      <a:r>
                        <a:rPr lang="zh-CN" altLang="en-US"/>
                        <a:t>个节点时程序的响应速度和</a:t>
                      </a:r>
                      <a:r>
                        <a:rPr lang="en-US" altLang="zh-CN"/>
                        <a:t>UI</a:t>
                      </a:r>
                      <a:r>
                        <a:rPr lang="zh-CN" altLang="en-US"/>
                        <a:t>事件处理性能。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场景拖拽性能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评估在大量节点存在时，拖拽单个节点的流畅度和性能稳定性。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场景缩放性能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评估画布视图对滚轮缩放事件的响应性能。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场景框选性能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模拟用户在大画布中框选大量节点时的程序表现。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撤销重做性能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评估</a:t>
                      </a:r>
                      <a:r>
                        <a:rPr lang="en-US" altLang="zh-CN"/>
                        <a:t>Undo</a:t>
                      </a:r>
                      <a:r>
                        <a:rPr lang="zh-CN" altLang="en-US"/>
                        <a:t>和</a:t>
                      </a:r>
                      <a:r>
                        <a:rPr lang="en-US" altLang="zh-CN"/>
                        <a:t>Redo</a:t>
                      </a:r>
                      <a:r>
                        <a:rPr lang="zh-CN" altLang="en-US"/>
                        <a:t>功能在大量节点存在时的响应速度。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保存加载性能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测量大文件保存和加载的实际耗时。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15830-5C36-C84E-E27E-FEA1D23BB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36794D78-6FAF-E0DE-1565-D0BBD9B5E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spc="300" dirty="0">
                <a:sym typeface="+mn-ea"/>
              </a:rPr>
              <a:t>已完成的工作</a:t>
            </a:r>
            <a:endParaRPr lang="zh-CN" altLang="en-US"/>
          </a:p>
        </p:txBody>
      </p:sp>
      <p:sp>
        <p:nvSpPr>
          <p:cNvPr id="11" name="内容占位符 1">
            <a:extLst>
              <a:ext uri="{FF2B5EF4-FFF2-40B4-BE49-F238E27FC236}">
                <a16:creationId xmlns:a16="http://schemas.microsoft.com/office/drawing/2014/main" id="{32C3FE81-065D-7153-1938-405DD3BEA375}"/>
              </a:ext>
            </a:extLst>
          </p:cNvPr>
          <p:cNvSpPr txBox="1"/>
          <p:nvPr/>
        </p:nvSpPr>
        <p:spPr>
          <a:xfrm>
            <a:off x="1421130" y="1076960"/>
            <a:ext cx="9439275" cy="541655"/>
          </a:xfrm>
          <a:prstGeom prst="rect">
            <a:avLst/>
          </a:prstGeom>
        </p:spPr>
        <p:txBody>
          <a:bodyPr vert="horz" lIns="0" tIns="0" rIns="0" bIns="0"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③</a:t>
            </a:r>
            <a:r>
              <a:rPr lang="en-US" altLang="zh-CN" sz="24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性能测试：</a:t>
            </a:r>
            <a:endParaRPr kumimoji="0" lang="zh-CN" altLang="en-US" sz="2400" b="1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9AE751-4C88-5DC9-DB5D-2C1D97ED6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2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A screen shot of a black background&#10;&#10;AI-generated content may be incorrect.">
            <a:extLst>
              <a:ext uri="{FF2B5EF4-FFF2-40B4-BE49-F238E27FC236}">
                <a16:creationId xmlns:a16="http://schemas.microsoft.com/office/drawing/2014/main" id="{E011284A-CB60-C8D6-3FF2-349673F42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016" y="1685682"/>
            <a:ext cx="5612156" cy="4095357"/>
          </a:xfrm>
          <a:prstGeom prst="rect">
            <a:avLst/>
          </a:prstGeom>
        </p:spPr>
      </p:pic>
      <p:pic>
        <p:nvPicPr>
          <p:cNvPr id="5" name="图片 1">
            <a:extLst>
              <a:ext uri="{FF2B5EF4-FFF2-40B4-BE49-F238E27FC236}">
                <a16:creationId xmlns:a16="http://schemas.microsoft.com/office/drawing/2014/main" id="{818BC09E-EE02-FAE0-2CF8-40FA8595B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321" y="1685683"/>
            <a:ext cx="3967377" cy="409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96170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spc="300" dirty="0">
                <a:sym typeface="+mn-ea"/>
              </a:rPr>
              <a:t>已完成的工作</a:t>
            </a:r>
            <a:endParaRPr lang="zh-CN" altLang="en-US"/>
          </a:p>
        </p:txBody>
      </p:sp>
      <p:sp>
        <p:nvSpPr>
          <p:cNvPr id="11" name="内容占位符 1"/>
          <p:cNvSpPr txBox="1"/>
          <p:nvPr/>
        </p:nvSpPr>
        <p:spPr>
          <a:xfrm>
            <a:off x="1421130" y="1076960"/>
            <a:ext cx="9439275" cy="541655"/>
          </a:xfrm>
          <a:prstGeom prst="rect">
            <a:avLst/>
          </a:prstGeom>
        </p:spPr>
        <p:txBody>
          <a:bodyPr vert="horz" lIns="0" tIns="0" rIns="0" bIns="0"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④</a:t>
            </a:r>
            <a:r>
              <a:rPr kumimoji="0" lang="en-US" altLang="zh-CN" sz="24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易用性测试：</a:t>
            </a:r>
          </a:p>
        </p:txBody>
      </p:sp>
      <p:sp>
        <p:nvSpPr>
          <p:cNvPr id="12" name="半闭框 11"/>
          <p:cNvSpPr/>
          <p:nvPr/>
        </p:nvSpPr>
        <p:spPr>
          <a:xfrm>
            <a:off x="792285" y="1067445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半闭框 12"/>
          <p:cNvSpPr/>
          <p:nvPr/>
        </p:nvSpPr>
        <p:spPr>
          <a:xfrm flipH="1" flipV="1">
            <a:off x="11120364" y="5578289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2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3" name="内容占位符 1"/>
          <p:cNvSpPr txBox="1"/>
          <p:nvPr/>
        </p:nvSpPr>
        <p:spPr>
          <a:xfrm>
            <a:off x="1040130" y="1618615"/>
            <a:ext cx="6350000" cy="4375150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测试介绍：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我们找了</a:t>
            </a: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位同为大学生的同学朋友进行使用测试，提前将项目通过</a:t>
            </a: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windeployqt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重新打包成</a:t>
            </a: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exe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可执行文件，并将收集到的反馈截图与数据整理成检测报告。</a:t>
            </a: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测试内容：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工具栏布局清晰度、操作直观性、图形绘制简便性、颜色</a:t>
            </a: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样式选择便利性、保存</a:t>
            </a: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加载功能清晰度、总体满意度、最喜欢的功能、最需要改进的地方、其他建议、易学性、错误容忍度、界面响应速度、界面美观度、任务完成效率、连接线操作便利性、文本编辑体验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0" y="970915"/>
            <a:ext cx="3467100" cy="502285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spc="300" dirty="0">
                <a:sym typeface="+mn-ea"/>
              </a:rPr>
              <a:t>已完成的工作</a:t>
            </a:r>
            <a:endParaRPr lang="zh-CN" altLang="en-US"/>
          </a:p>
        </p:txBody>
      </p:sp>
      <p:sp>
        <p:nvSpPr>
          <p:cNvPr id="11" name="内容占位符 1"/>
          <p:cNvSpPr txBox="1"/>
          <p:nvPr/>
        </p:nvSpPr>
        <p:spPr>
          <a:xfrm>
            <a:off x="1421130" y="1076960"/>
            <a:ext cx="9439275" cy="541655"/>
          </a:xfrm>
          <a:prstGeom prst="rect">
            <a:avLst/>
          </a:prstGeom>
        </p:spPr>
        <p:txBody>
          <a:bodyPr vert="horz" lIns="0" tIns="0" rIns="0" bIns="0"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④</a:t>
            </a:r>
            <a:r>
              <a:rPr lang="en-US" altLang="zh-CN" sz="24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易用性测试：</a:t>
            </a:r>
            <a:endParaRPr kumimoji="0" lang="zh-CN" altLang="en-US" sz="2400" b="1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2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137920" y="2053590"/>
          <a:ext cx="1008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测试编号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测试指标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测试编号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测试指标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工具栏布局清晰度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错误容忍度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操作直观性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界面响应速度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图形绘制简便性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界面美观度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颜色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样式选择便利性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任务完成效率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保存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加载功能清晰度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连接线操作便利性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总体满意度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文本编辑体验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易学性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spc="300" dirty="0">
                <a:sym typeface="+mn-ea"/>
              </a:rPr>
              <a:t>已完成的工作</a:t>
            </a:r>
            <a:endParaRPr lang="zh-CN" altLang="en-US"/>
          </a:p>
        </p:txBody>
      </p:sp>
      <p:sp>
        <p:nvSpPr>
          <p:cNvPr id="11" name="内容占位符 1"/>
          <p:cNvSpPr txBox="1"/>
          <p:nvPr/>
        </p:nvSpPr>
        <p:spPr>
          <a:xfrm>
            <a:off x="1421130" y="1491615"/>
            <a:ext cx="9439275" cy="541655"/>
          </a:xfrm>
          <a:prstGeom prst="rect">
            <a:avLst/>
          </a:prstGeom>
        </p:spPr>
        <p:txBody>
          <a:bodyPr vert="horz" lIns="0" tIns="0" rIns="0" bIns="0"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⑤</a:t>
            </a:r>
            <a:r>
              <a:rPr kumimoji="0" lang="en-US" altLang="zh-CN" sz="24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项目文档与状态追踪：</a:t>
            </a:r>
          </a:p>
        </p:txBody>
      </p:sp>
      <p:sp>
        <p:nvSpPr>
          <p:cNvPr id="12" name="半闭框 11"/>
          <p:cNvSpPr/>
          <p:nvPr/>
        </p:nvSpPr>
        <p:spPr>
          <a:xfrm>
            <a:off x="792285" y="1067445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半闭框 12"/>
          <p:cNvSpPr/>
          <p:nvPr/>
        </p:nvSpPr>
        <p:spPr>
          <a:xfrm flipH="1" flipV="1">
            <a:off x="11120364" y="5578289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2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3" name="内容占位符 1"/>
          <p:cNvSpPr txBox="1"/>
          <p:nvPr/>
        </p:nvSpPr>
        <p:spPr>
          <a:xfrm>
            <a:off x="674703" y="2167255"/>
            <a:ext cx="10999433" cy="198310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我们已经将所有工作分配都放在</a:t>
            </a: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TEAM_TASK_ASSIGNMENT.md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文档中，并要求组员在完成相应检测后将检测结果传到</a:t>
            </a: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Github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仓库中，并更新</a:t>
            </a: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TEST_STATUS.md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报告中的检测状态。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并已经将检测结果放到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kumimoji="0" lang="en-US" altLang="zh-CN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_TEST_REPORT.md</a:t>
            </a:r>
            <a:r>
              <a:rPr kumimoji="0" lang="zh-CN" altLang="en-US" sz="200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文档中。</a:t>
            </a:r>
          </a:p>
        </p:txBody>
      </p:sp>
    </p:spTree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4296724" y="4338519"/>
            <a:ext cx="6538595" cy="782043"/>
            <a:chOff x="5181690" y="2820871"/>
            <a:chExt cx="4605970" cy="550893"/>
          </a:xfrm>
        </p:grpSpPr>
        <p:sp>
          <p:nvSpPr>
            <p:cNvPr id="4" name="椭圆 3"/>
            <p:cNvSpPr/>
            <p:nvPr/>
          </p:nvSpPr>
          <p:spPr>
            <a:xfrm>
              <a:off x="5181690" y="2820871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 dirty="0">
                  <a:latin typeface="Century Gothic" panose="020B0502020202020204" pitchFamily="34" charset="0"/>
                </a:rPr>
                <a:t>3</a:t>
              </a:r>
              <a:endParaRPr lang="zh-CN" altLang="en-US" sz="4400" dirty="0">
                <a:latin typeface="Century Gothic" panose="020B0502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988641" y="2888415"/>
              <a:ext cx="3799019" cy="39005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3600" b="1" spc="300" dirty="0">
                  <a:latin typeface="+mj-ea"/>
                  <a:ea typeface="+mj-ea"/>
                  <a:sym typeface="+mn-ea"/>
                </a:rPr>
                <a:t>下一</a:t>
              </a:r>
              <a:r>
                <a:rPr sz="3600" b="1" spc="300" dirty="0">
                  <a:latin typeface="+mj-ea"/>
                  <a:ea typeface="+mj-ea"/>
                  <a:sym typeface="+mn-ea"/>
                </a:rPr>
                <a:t>阶段</a:t>
              </a:r>
              <a:r>
                <a:rPr lang="zh-CN" altLang="en-US" sz="3600" b="1" spc="300" dirty="0">
                  <a:latin typeface="+mj-ea"/>
                  <a:ea typeface="+mj-ea"/>
                  <a:sym typeface="+mn-ea"/>
                </a:rPr>
                <a:t>计划</a:t>
              </a:r>
              <a:endParaRPr lang="zh-CN" altLang="en-US" sz="3600" b="1" spc="3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75743" y="1341417"/>
            <a:ext cx="10498347" cy="3191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+mn-ea"/>
              </a:rPr>
              <a:t>缺失与风险：</a:t>
            </a:r>
            <a:endParaRPr lang="en-US" altLang="zh-CN" sz="2400" b="1" dirty="0">
              <a:latin typeface="+mn-ea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charset="0"/>
              <a:buChar char="n"/>
            </a:pPr>
            <a:r>
              <a:rPr lang="zh-CN" altLang="en-US" sz="2200" dirty="0">
                <a:latin typeface="+mn-ea"/>
              </a:rPr>
              <a:t>缺少对静态代码审查和文档扫描的总结。</a:t>
            </a:r>
            <a:endParaRPr lang="en-US" altLang="zh-CN" sz="2200" dirty="0">
              <a:latin typeface="+mn-ea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charset="0"/>
              <a:buChar char="n"/>
            </a:pPr>
            <a:r>
              <a:rPr lang="zh-CN" altLang="en-US" sz="2200" dirty="0">
                <a:latin typeface="+mn-ea"/>
              </a:rPr>
              <a:t>缺少可复现的运行日志</a:t>
            </a:r>
            <a:r>
              <a:rPr lang="en-US" altLang="zh-CN" sz="2200" dirty="0">
                <a:latin typeface="+mn-ea"/>
              </a:rPr>
              <a:t>:</a:t>
            </a:r>
            <a:r>
              <a:rPr lang="zh-CN" altLang="en-US" sz="2200" dirty="0">
                <a:latin typeface="+mn-ea"/>
              </a:rPr>
              <a:t>多数测试仅有截图或报告，缺少</a:t>
            </a:r>
            <a:r>
              <a:rPr lang="en-US" altLang="zh-CN" sz="2200" dirty="0">
                <a:latin typeface="+mn-ea"/>
              </a:rPr>
              <a:t>stdout/stderr </a:t>
            </a:r>
            <a:r>
              <a:rPr lang="zh-CN" altLang="en-US" sz="2200" dirty="0">
                <a:latin typeface="+mn-ea"/>
              </a:rPr>
              <a:t>日志文件</a:t>
            </a:r>
            <a:r>
              <a:rPr lang="en-US" altLang="zh-CN" sz="2200" dirty="0">
                <a:latin typeface="+mn-ea"/>
              </a:rPr>
              <a:t>(</a:t>
            </a:r>
            <a:r>
              <a:rPr lang="zh-CN" altLang="en-US" sz="2200" dirty="0">
                <a:latin typeface="+mn-ea"/>
              </a:rPr>
              <a:t>如</a:t>
            </a:r>
            <a:r>
              <a:rPr lang="en-US" altLang="zh-CN" sz="2200" dirty="0">
                <a:latin typeface="+mn-ea"/>
              </a:rPr>
              <a:t>*.log)</a:t>
            </a:r>
            <a:r>
              <a:rPr lang="zh-CN" altLang="en-US" sz="2200" dirty="0">
                <a:latin typeface="+mn-ea"/>
              </a:rPr>
              <a:t>和</a:t>
            </a:r>
            <a:r>
              <a:rPr lang="en-US" altLang="zh-CN" sz="2200" dirty="0">
                <a:latin typeface="+mn-ea"/>
              </a:rPr>
              <a:t> QTest </a:t>
            </a:r>
            <a:r>
              <a:rPr lang="zh-CN" altLang="en-US" sz="2200" dirty="0">
                <a:latin typeface="+mn-ea"/>
              </a:rPr>
              <a:t>导出的</a:t>
            </a:r>
            <a:r>
              <a:rPr lang="en-US" altLang="zh-CN" sz="2200" dirty="0">
                <a:latin typeface="+mn-ea"/>
              </a:rPr>
              <a:t>JUnit XML(*.xml)</a:t>
            </a:r>
            <a:r>
              <a:rPr lang="zh-CN" altLang="en-US" sz="2200" dirty="0">
                <a:latin typeface="+mn-ea"/>
              </a:rPr>
              <a:t>。</a:t>
            </a: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charset="0"/>
              <a:buChar char="n"/>
            </a:pPr>
            <a:r>
              <a:rPr lang="zh-CN" altLang="en-US" sz="2200" dirty="0">
                <a:latin typeface="+mn-ea"/>
              </a:rPr>
              <a:t>缺少</a:t>
            </a:r>
            <a:r>
              <a:rPr lang="en-US" altLang="zh-CN" sz="2200" dirty="0">
                <a:latin typeface="+mn-ea"/>
              </a:rPr>
              <a:t>Tier1(</a:t>
            </a:r>
            <a:r>
              <a:rPr lang="zh-CN" altLang="en-US" sz="2200" dirty="0">
                <a:latin typeface="+mn-ea"/>
              </a:rPr>
              <a:t>非</a:t>
            </a:r>
            <a:r>
              <a:rPr lang="en-US" altLang="zh-CN" sz="2200" dirty="0">
                <a:latin typeface="+mn-ea"/>
              </a:rPr>
              <a:t> GUI)</a:t>
            </a:r>
            <a:r>
              <a:rPr lang="zh-CN" altLang="en-US" sz="2200" dirty="0">
                <a:latin typeface="+mn-ea"/>
              </a:rPr>
              <a:t>轻量单元测试用于</a:t>
            </a:r>
            <a:r>
              <a:rPr lang="en-US" altLang="zh-CN" sz="2200" dirty="0">
                <a:latin typeface="+mn-ea"/>
              </a:rPr>
              <a:t> CI</a:t>
            </a:r>
            <a:r>
              <a:rPr lang="zh-CN" altLang="en-US" sz="2200" dirty="0">
                <a:latin typeface="+mn-ea"/>
              </a:rPr>
              <a:t>验证</a:t>
            </a:r>
            <a:r>
              <a:rPr lang="en-US" altLang="zh-CN" sz="2200" dirty="0">
                <a:latin typeface="+mn-ea"/>
              </a:rPr>
              <a:t>(</a:t>
            </a:r>
            <a:r>
              <a:rPr lang="zh-CN" altLang="en-US" sz="2200" dirty="0">
                <a:latin typeface="+mn-ea"/>
              </a:rPr>
              <a:t>可以使用</a:t>
            </a:r>
            <a:r>
              <a:rPr lang="en-US" altLang="zh-CN" sz="2200" dirty="0">
                <a:latin typeface="+mn-ea"/>
              </a:rPr>
              <a:t> Catch2/GoogleTest </a:t>
            </a:r>
            <a:r>
              <a:rPr lang="zh-CN" altLang="en-US" sz="2200" dirty="0">
                <a:latin typeface="+mn-ea"/>
              </a:rPr>
              <a:t>或小型</a:t>
            </a:r>
            <a:r>
              <a:rPr lang="en-US" altLang="zh-CN" sz="2200" dirty="0">
                <a:latin typeface="+mn-ea"/>
              </a:rPr>
              <a:t> main+assert)</a:t>
            </a:r>
            <a:r>
              <a:rPr lang="zh-CN" altLang="en-US" sz="2200" dirty="0">
                <a:latin typeface="+mn-ea"/>
              </a:rPr>
              <a:t>。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spc="300" dirty="0">
                <a:latin typeface="+mj-ea"/>
                <a:ea typeface="+mj-ea"/>
                <a:sym typeface="+mn-ea"/>
              </a:rPr>
              <a:t>下一阶段计划</a:t>
            </a:r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3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75743" y="1178857"/>
            <a:ext cx="10498347" cy="4037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+mn-ea"/>
              </a:rPr>
              <a:t>下一阶段计划：</a:t>
            </a:r>
            <a:endParaRPr lang="en-US" altLang="zh-CN" sz="2400" b="1" dirty="0">
              <a:latin typeface="+mn-ea"/>
            </a:endParaRPr>
          </a:p>
          <a:p>
            <a:pPr marL="0"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+mn-ea"/>
              </a:rPr>
              <a:t>针对当前评测过程中暴露的问题，下一阶段将重点从</a:t>
            </a:r>
            <a:r>
              <a:rPr lang="zh-CN" altLang="en-US" sz="1600" b="1" dirty="0">
                <a:latin typeface="+mn-ea"/>
              </a:rPr>
              <a:t>可复现性</a:t>
            </a:r>
            <a:r>
              <a:rPr lang="zh-CN" altLang="en-US" sz="1600" dirty="0">
                <a:latin typeface="+mn-ea"/>
              </a:rPr>
              <a:t>、</a:t>
            </a:r>
            <a:r>
              <a:rPr lang="zh-CN" altLang="en-US" sz="1600" b="1" dirty="0">
                <a:latin typeface="+mn-ea"/>
              </a:rPr>
              <a:t>自动化覆盖度</a:t>
            </a:r>
            <a:r>
              <a:rPr lang="zh-CN" altLang="en-US" sz="1600" dirty="0">
                <a:latin typeface="+mn-ea"/>
              </a:rPr>
              <a:t>与</a:t>
            </a:r>
            <a:r>
              <a:rPr lang="zh-CN" altLang="en-US" sz="1600" b="1" dirty="0">
                <a:latin typeface="+mn-ea"/>
              </a:rPr>
              <a:t>质量量化指标</a:t>
            </a:r>
            <a:r>
              <a:rPr lang="zh-CN" altLang="en-US" sz="1600" dirty="0">
                <a:latin typeface="+mn-ea"/>
              </a:rPr>
              <a:t>三方面进行改进与提升：</a:t>
            </a:r>
            <a:endParaRPr lang="en-US" altLang="zh-CN" sz="1600" dirty="0">
              <a:latin typeface="+mn-ea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charset="0"/>
              <a:buChar char="n"/>
            </a:pPr>
            <a:r>
              <a:rPr lang="zh-CN" altLang="en-US" sz="1600" dirty="0">
                <a:latin typeface="+mn-ea"/>
              </a:rPr>
              <a:t>整理总结对代码静态扫描和文档审查的报告。</a:t>
            </a:r>
            <a:endParaRPr lang="en-US" altLang="zh-CN" sz="1600" dirty="0">
              <a:latin typeface="+mn-ea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charset="0"/>
              <a:buChar char="n"/>
            </a:pPr>
            <a:r>
              <a:rPr lang="zh-CN" altLang="en-US" sz="1600" dirty="0">
                <a:latin typeface="+mn-ea"/>
              </a:rPr>
              <a:t>完善可复现运行证据：在后续测试中统一输出并归档可复现的运行日志，包括标准输出</a:t>
            </a:r>
            <a:r>
              <a:rPr lang="en-US" altLang="zh-CN" sz="1600" dirty="0">
                <a:latin typeface="+mn-ea"/>
              </a:rPr>
              <a:t>/</a:t>
            </a:r>
            <a:r>
              <a:rPr lang="zh-CN" altLang="en-US" sz="1600" dirty="0">
                <a:latin typeface="+mn-ea"/>
              </a:rPr>
              <a:t>错误日志（</a:t>
            </a:r>
            <a:r>
              <a:rPr lang="en-US" altLang="zh-CN" sz="1600" dirty="0">
                <a:latin typeface="+mn-ea"/>
              </a:rPr>
              <a:t>stdout / stderr</a:t>
            </a:r>
            <a:r>
              <a:rPr lang="zh-CN" altLang="en-US" sz="1600" dirty="0">
                <a:latin typeface="+mn-ea"/>
              </a:rPr>
              <a:t>，</a:t>
            </a:r>
            <a:r>
              <a:rPr lang="en-US" altLang="zh-CN" sz="1600" dirty="0">
                <a:latin typeface="+mn-ea"/>
              </a:rPr>
              <a:t>.log</a:t>
            </a:r>
            <a:r>
              <a:rPr lang="zh-CN" altLang="en-US" sz="1600" dirty="0">
                <a:latin typeface="+mn-ea"/>
              </a:rPr>
              <a:t>）以及由</a:t>
            </a:r>
            <a:r>
              <a:rPr lang="en-US" altLang="zh-CN" sz="1600" dirty="0">
                <a:latin typeface="+mn-ea"/>
              </a:rPr>
              <a:t> QTest </a:t>
            </a:r>
            <a:r>
              <a:rPr lang="zh-CN" altLang="en-US" sz="1600" dirty="0">
                <a:latin typeface="+mn-ea"/>
              </a:rPr>
              <a:t>导出的</a:t>
            </a:r>
            <a:r>
              <a:rPr lang="en-US" altLang="zh-CN" sz="1600" dirty="0">
                <a:latin typeface="+mn-ea"/>
              </a:rPr>
              <a:t> JUnit XML</a:t>
            </a:r>
            <a:r>
              <a:rPr lang="zh-CN" altLang="en-US" sz="1600" dirty="0">
                <a:latin typeface="+mn-ea"/>
              </a:rPr>
              <a:t>（</a:t>
            </a:r>
            <a:r>
              <a:rPr lang="en-US" altLang="zh-CN" sz="1600" dirty="0">
                <a:latin typeface="+mn-ea"/>
              </a:rPr>
              <a:t>.xml</a:t>
            </a:r>
            <a:r>
              <a:rPr lang="zh-CN" altLang="en-US" sz="1600" dirty="0">
                <a:latin typeface="+mn-ea"/>
              </a:rPr>
              <a:t>）结果文件，确保测试结果可追溯、可复现，并便于后续自动化分析与问题定位。</a:t>
            </a:r>
            <a:endParaRPr lang="en-US" altLang="zh-CN" sz="1600" dirty="0">
              <a:latin typeface="+mn-ea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charset="0"/>
              <a:buChar char="n"/>
            </a:pPr>
            <a:r>
              <a:rPr lang="zh-CN" altLang="en-US" sz="1600" dirty="0">
                <a:latin typeface="+mn-ea"/>
              </a:rPr>
              <a:t>引入</a:t>
            </a:r>
            <a:r>
              <a:rPr lang="en-US" altLang="zh-CN" sz="1600" dirty="0">
                <a:latin typeface="+mn-ea"/>
              </a:rPr>
              <a:t> Tier1 </a:t>
            </a:r>
            <a:r>
              <a:rPr lang="zh-CN" altLang="en-US" sz="1600" dirty="0">
                <a:latin typeface="+mn-ea"/>
              </a:rPr>
              <a:t>轻量级单元测试用于</a:t>
            </a:r>
            <a:r>
              <a:rPr lang="en-US" altLang="zh-CN" sz="1600" dirty="0">
                <a:latin typeface="+mn-ea"/>
              </a:rPr>
              <a:t> CI </a:t>
            </a:r>
            <a:r>
              <a:rPr lang="zh-CN" altLang="en-US" sz="1600" dirty="0">
                <a:latin typeface="+mn-ea"/>
              </a:rPr>
              <a:t>验证：补充非</a:t>
            </a:r>
            <a:r>
              <a:rPr lang="en-US" altLang="zh-CN" sz="1600" dirty="0">
                <a:latin typeface="+mn-ea"/>
              </a:rPr>
              <a:t> GUI </a:t>
            </a:r>
            <a:r>
              <a:rPr lang="zh-CN" altLang="en-US" sz="1600" dirty="0">
                <a:latin typeface="+mn-ea"/>
              </a:rPr>
              <a:t>的</a:t>
            </a:r>
            <a:r>
              <a:rPr lang="en-US" altLang="zh-CN" sz="1600" dirty="0">
                <a:latin typeface="+mn-ea"/>
              </a:rPr>
              <a:t> Tier1 </a:t>
            </a:r>
            <a:r>
              <a:rPr lang="zh-CN" altLang="en-US" sz="1600" dirty="0">
                <a:latin typeface="+mn-ea"/>
              </a:rPr>
              <a:t>单元测试作为持续集成（</a:t>
            </a:r>
            <a:r>
              <a:rPr lang="en-US" altLang="zh-CN" sz="1600" dirty="0">
                <a:latin typeface="+mn-ea"/>
              </a:rPr>
              <a:t>CI</a:t>
            </a:r>
            <a:r>
              <a:rPr lang="zh-CN" altLang="en-US" sz="1600" dirty="0">
                <a:latin typeface="+mn-ea"/>
              </a:rPr>
              <a:t>）的基础质量门禁，优先覆盖核心逻辑与关键接口。测试形式将采用</a:t>
            </a:r>
            <a:r>
              <a:rPr lang="en-US" altLang="zh-CN" sz="1600" dirty="0">
                <a:latin typeface="+mn-ea"/>
              </a:rPr>
              <a:t> Catch2 / GoogleTest </a:t>
            </a:r>
            <a:r>
              <a:rPr lang="zh-CN" altLang="en-US" sz="1600" dirty="0">
                <a:latin typeface="+mn-ea"/>
              </a:rPr>
              <a:t>等成熟框架，或通过简化的</a:t>
            </a:r>
            <a:r>
              <a:rPr lang="en-US" altLang="zh-CN" sz="1600" dirty="0">
                <a:latin typeface="+mn-ea"/>
              </a:rPr>
              <a:t> main + assert </a:t>
            </a:r>
            <a:r>
              <a:rPr lang="zh-CN" altLang="en-US" sz="1600" dirty="0">
                <a:latin typeface="+mn-ea"/>
              </a:rPr>
              <a:t>测试方式实现，以提升回归效率并降低维护成本。</a:t>
            </a:r>
            <a:endParaRPr lang="en-US" altLang="zh-CN" sz="1600" dirty="0">
              <a:latin typeface="+mn-ea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spc="300" dirty="0">
                <a:latin typeface="+mj-ea"/>
                <a:ea typeface="+mj-ea"/>
                <a:sym typeface="+mn-ea"/>
              </a:rPr>
              <a:t>下一阶段计划</a:t>
            </a:r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3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3662994" y="4283909"/>
            <a:ext cx="6538595" cy="782043"/>
            <a:chOff x="5181690" y="2820871"/>
            <a:chExt cx="4605970" cy="550893"/>
          </a:xfrm>
        </p:grpSpPr>
        <p:sp>
          <p:nvSpPr>
            <p:cNvPr id="4" name="椭圆 3"/>
            <p:cNvSpPr/>
            <p:nvPr/>
          </p:nvSpPr>
          <p:spPr>
            <a:xfrm>
              <a:off x="5181690" y="2820871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 dirty="0">
                  <a:latin typeface="Century Gothic" panose="020B0502020202020204" pitchFamily="34" charset="0"/>
                </a:rPr>
                <a:t>4</a:t>
              </a:r>
              <a:endParaRPr lang="zh-CN" altLang="en-US" sz="4400" dirty="0">
                <a:latin typeface="Century Gothic" panose="020B0502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988641" y="2888415"/>
              <a:ext cx="3799019" cy="39005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3600" b="1" spc="300" dirty="0">
                  <a:latin typeface="+mj-ea"/>
                  <a:ea typeface="+mj-ea"/>
                  <a:sym typeface="+mn-ea"/>
                </a:rPr>
                <a:t>项目安排更改说明</a:t>
              </a:r>
              <a:endParaRPr lang="zh-CN" altLang="en-US" sz="3600" b="1" spc="3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75743" y="1612562"/>
            <a:ext cx="10498347" cy="3790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1800" dirty="0">
                <a:latin typeface="+mn-ea"/>
              </a:rPr>
              <a:t>    </a:t>
            </a:r>
            <a:r>
              <a:rPr lang="zh-CN" altLang="en-US" sz="1800" dirty="0">
                <a:latin typeface="+mn-ea"/>
              </a:rPr>
              <a:t>原计划中曾考虑引入</a:t>
            </a:r>
            <a:r>
              <a:rPr lang="en-US" altLang="zh-CN" sz="1800" dirty="0">
                <a:latin typeface="+mn-ea"/>
              </a:rPr>
              <a:t> Agent </a:t>
            </a:r>
            <a:r>
              <a:rPr lang="zh-CN" altLang="en-US" sz="1800" dirty="0">
                <a:latin typeface="+mn-ea"/>
              </a:rPr>
              <a:t>方案以增强系统的自动化与智能化能力。在实际推进过程中，我们已围绕当前系统完成了单元测试、性能测试、易用性测试及功能测试等多维度质量评测工作。</a:t>
            </a:r>
          </a:p>
          <a:p>
            <a:pPr marL="0"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1800" dirty="0">
                <a:latin typeface="+mn-ea"/>
              </a:rPr>
              <a:t>    </a:t>
            </a:r>
            <a:r>
              <a:rPr lang="zh-CN" altLang="en-US" sz="1800" dirty="0">
                <a:latin typeface="+mn-ea"/>
              </a:rPr>
              <a:t>基于现阶段测试结果与整体投入产出评估，认为当前阶段继续引入</a:t>
            </a:r>
            <a:r>
              <a:rPr lang="en-US" altLang="zh-CN" sz="1800" dirty="0">
                <a:latin typeface="+mn-ea"/>
              </a:rPr>
              <a:t> Agent </a:t>
            </a:r>
            <a:r>
              <a:rPr lang="zh-CN" altLang="en-US" sz="1800" dirty="0">
                <a:latin typeface="+mn-ea"/>
              </a:rPr>
              <a:t>并不能显著提升核心功能验证效果，且会在架构复杂度、维护成本及验证边界上带来额外不确定性。</a:t>
            </a:r>
            <a:endParaRPr lang="en-US" altLang="zh-CN" sz="1800" dirty="0">
              <a:latin typeface="+mn-ea"/>
            </a:endParaRPr>
          </a:p>
          <a:p>
            <a:pPr marL="0"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1800" dirty="0">
                <a:latin typeface="+mn-ea"/>
              </a:rPr>
              <a:t>    </a:t>
            </a:r>
            <a:r>
              <a:rPr lang="zh-CN" altLang="en-US" sz="1800" dirty="0">
                <a:latin typeface="+mn-ea"/>
              </a:rPr>
              <a:t>因此，项目安排将进行阶段性调整：暂缓</a:t>
            </a:r>
            <a:r>
              <a:rPr lang="en-US" altLang="zh-CN" sz="1800" dirty="0">
                <a:latin typeface="+mn-ea"/>
              </a:rPr>
              <a:t> Agent </a:t>
            </a:r>
            <a:r>
              <a:rPr lang="zh-CN" altLang="en-US" sz="1800" dirty="0">
                <a:latin typeface="+mn-ea"/>
              </a:rPr>
              <a:t>方案的实现，将资源与精力集中于现有系统的稳定性、性能指标优化以及测试体系的完善与自动化建设。后续将在系统功能形态与使用场景进一步明确后，再评估</a:t>
            </a:r>
            <a:r>
              <a:rPr lang="en-US" altLang="zh-CN" sz="1800" dirty="0">
                <a:latin typeface="+mn-ea"/>
              </a:rPr>
              <a:t> Agent </a:t>
            </a:r>
            <a:r>
              <a:rPr lang="zh-CN" altLang="en-US" sz="1800" dirty="0">
                <a:latin typeface="+mn-ea"/>
              </a:rPr>
              <a:t>方案的必要性与实施时机。同时继续完善更新</a:t>
            </a:r>
            <a:r>
              <a:rPr lang="en-US" altLang="zh-CN" sz="18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sym typeface="+mn-ea"/>
              </a:rPr>
              <a:t>TEAM_TASK_ASSIGNMENT.md</a:t>
            </a:r>
            <a:r>
              <a:rPr lang="zh-CN" altLang="en-US" sz="18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sym typeface="+mn-ea"/>
              </a:rPr>
              <a:t>与</a:t>
            </a:r>
            <a:r>
              <a:rPr lang="en-US" altLang="zh-CN" sz="1800" spc="3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sym typeface="+mn-ea"/>
              </a:rPr>
              <a:t>TEST_STATUS.md</a:t>
            </a:r>
            <a:r>
              <a:rPr lang="zh-CN" altLang="en-US" sz="1800" spc="3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sym typeface="+mn-ea"/>
              </a:rPr>
              <a:t>，明确项目检测要求并及时产出成果。</a:t>
            </a:r>
            <a:endParaRPr lang="en-US" altLang="zh-CN" sz="1800" dirty="0">
              <a:latin typeface="+mn-ea"/>
            </a:endParaRPr>
          </a:p>
          <a:p>
            <a:pPr marL="0"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1800" dirty="0">
                <a:latin typeface="+mn-ea"/>
              </a:rPr>
              <a:t>    </a:t>
            </a:r>
            <a:r>
              <a:rPr lang="zh-CN" altLang="en-US" sz="1800" dirty="0">
                <a:latin typeface="+mn-ea"/>
              </a:rPr>
              <a:t>此次调整属于基于评测结论的</a:t>
            </a:r>
            <a:r>
              <a:rPr lang="zh-CN" altLang="en-US" sz="1800" b="1" dirty="0">
                <a:latin typeface="+mn-ea"/>
              </a:rPr>
              <a:t>阶段性</a:t>
            </a:r>
            <a:r>
              <a:rPr lang="zh-CN" altLang="en-US" sz="1800" dirty="0">
                <a:latin typeface="+mn-ea"/>
              </a:rPr>
              <a:t>策略优化，不影响项目整体目标与后续扩展方向。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spc="300" dirty="0">
                <a:latin typeface="+mj-ea"/>
                <a:ea typeface="+mj-ea"/>
                <a:sym typeface="+mn-ea"/>
              </a:rPr>
              <a:t>项目安排更改说明</a:t>
            </a:r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4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833795" y="2336758"/>
            <a:ext cx="85244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solidFill>
                  <a:schemeClr val="bg1"/>
                </a:solidFill>
                <a:latin typeface="+mn-ea"/>
                <a:ea typeface="+mn-ea"/>
              </a:rPr>
              <a:t>谢谢观看</a:t>
            </a:r>
            <a:endParaRPr lang="en-US" altLang="zh-CN" sz="4400" dirty="0">
              <a:solidFill>
                <a:schemeClr val="bg1"/>
              </a:solidFill>
              <a:latin typeface="+mn-ea"/>
              <a:ea typeface="+mn-ea"/>
            </a:endParaRPr>
          </a:p>
          <a:p>
            <a:pPr algn="ctr"/>
            <a:r>
              <a:rPr lang="zh-CN" altLang="en-US" sz="4400" dirty="0">
                <a:solidFill>
                  <a:schemeClr val="bg1"/>
                </a:solidFill>
                <a:latin typeface="+mn-ea"/>
                <a:ea typeface="+mn-ea"/>
              </a:rPr>
              <a:t>敬请各位老师批评指正</a:t>
            </a:r>
          </a:p>
        </p:txBody>
      </p:sp>
    </p:spTree>
  </p:cSld>
  <p:clrMapOvr>
    <a:masterClrMapping/>
  </p:clrMapOvr>
  <p:transition spd="med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6.2807874015748,&quot;left&quot;:483.13755905511806,&quot;top&quot;:230.2548818897638,&quot;width&quot;:460.911338582677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6.2807874015748,&quot;left&quot;:483.13755905511806,&quot;top&quot;:230.2548818897638,&quot;width&quot;:460.911338582677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6.2807874015748,&quot;left&quot;:483.13755905511806,&quot;top&quot;:230.2548818897638,&quot;width&quot;:460.911338582677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6.2807874015748,&quot;left&quot;:483.13755905511806,&quot;top&quot;:230.2548818897638,&quot;width&quot;:460.911338582677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6.2807874015748,&quot;left&quot;:483.13755905511806,&quot;top&quot;:230.2548818897638,&quot;width&quot;:460.911338582677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6.2807874015748,&quot;left&quot;:483.13755905511806,&quot;top&quot;:230.2548818897638,&quot;width&quot;:460.911338582677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6.2807874015748,&quot;left&quot;:483.13755905511806,&quot;top&quot;:230.2548818897638,&quot;width&quot;:460.911338582677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6.2807874015748,&quot;left&quot;:483.13755905511806,&quot;top&quot;:230.2548818897638,&quot;width&quot;:460.911338582677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6.2807874015748,&quot;left&quot;:483.13755905511806,&quot;top&quot;:230.2548818897638,&quot;width&quot;:460.911338582677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6.2807874015748,&quot;left&quot;:483.13755905511806,&quot;top&quot;:230.2548818897638,&quot;width&quot;:460.911338582677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6.2807874015748,&quot;left&quot;:483.13755905511806,&quot;top&quot;:230.2548818897638,&quot;width&quot;:460.911338582677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6.2807874015748,&quot;left&quot;:483.13755905511806,&quot;top&quot;:230.2548818897638,&quot;width&quot;:460.911338582677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2*330"/>
  <p:tag name="TABLE_ENDDRAG_RECT" val="35*127*892*33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57*217"/>
  <p:tag name="TABLE_ENDDRAG_RECT" val="144*195*257*21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30*324"/>
  <p:tag name="TABLE_ENDDRAG_RECT" val="144*135*230*32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25*220"/>
  <p:tag name="TABLE_ENDDRAG_RECT" val="144*210*225*22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18*289"/>
  <p:tag name="TABLE_ENDDRAG_RECT" val="144*180*218*28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2*330"/>
  <p:tag name="TABLE_ENDDRAG_RECT" val="35*127*892*33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21*275"/>
  <p:tag name="TABLE_ENDDRAG_RECT" val="144*135*221*275"/>
</p:tagLst>
</file>

<file path=ppt/theme/theme1.xml><?xml version="1.0" encoding="utf-8"?>
<a:theme xmlns:a="http://schemas.openxmlformats.org/drawingml/2006/main" name="封1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封2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封3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封4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封5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封6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封7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封8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封9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目1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目2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目3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目4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目5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目6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目7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目8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内页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1594</Words>
  <Application>Microsoft Office PowerPoint</Application>
  <PresentationFormat>Widescreen</PresentationFormat>
  <Paragraphs>240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23</vt:i4>
      </vt:variant>
    </vt:vector>
  </HeadingPairs>
  <TitlesOfParts>
    <vt:vector size="46" baseType="lpstr">
      <vt:lpstr>微软雅黑</vt:lpstr>
      <vt:lpstr>微软雅黑 Light</vt:lpstr>
      <vt:lpstr>Arial</vt:lpstr>
      <vt:lpstr>Century Gothic</vt:lpstr>
      <vt:lpstr>Wingdings</vt:lpstr>
      <vt:lpstr>封1​​</vt:lpstr>
      <vt:lpstr>封2​​</vt:lpstr>
      <vt:lpstr>封3​​</vt:lpstr>
      <vt:lpstr>封4​​</vt:lpstr>
      <vt:lpstr>封5​​</vt:lpstr>
      <vt:lpstr>封6​​</vt:lpstr>
      <vt:lpstr>封7​​</vt:lpstr>
      <vt:lpstr>封8​​</vt:lpstr>
      <vt:lpstr>封9​​</vt:lpstr>
      <vt:lpstr>目1​​</vt:lpstr>
      <vt:lpstr>目2​​</vt:lpstr>
      <vt:lpstr>目3​​</vt:lpstr>
      <vt:lpstr>目4​​</vt:lpstr>
      <vt:lpstr>目5​​</vt:lpstr>
      <vt:lpstr>目6​​</vt:lpstr>
      <vt:lpstr>目7​​</vt:lpstr>
      <vt:lpstr>目8​​</vt:lpstr>
      <vt:lpstr>内页​​</vt:lpstr>
      <vt:lpstr>中期汇报</vt:lpstr>
      <vt:lpstr>PowerPoint Presentation</vt:lpstr>
      <vt:lpstr>PowerPoint Presentation</vt:lpstr>
      <vt:lpstr>项目检测目标与结论</vt:lpstr>
      <vt:lpstr>PowerPoint Presentation</vt:lpstr>
      <vt:lpstr>已完成的工作</vt:lpstr>
      <vt:lpstr>已完成的工作</vt:lpstr>
      <vt:lpstr>已完成的工作</vt:lpstr>
      <vt:lpstr>已完成的工作</vt:lpstr>
      <vt:lpstr>已完成的工作</vt:lpstr>
      <vt:lpstr>已完成的工作</vt:lpstr>
      <vt:lpstr>已完成的工作</vt:lpstr>
      <vt:lpstr>已完成的工作</vt:lpstr>
      <vt:lpstr>已完成的工作</vt:lpstr>
      <vt:lpstr>已完成的工作</vt:lpstr>
      <vt:lpstr>已完成的工作</vt:lpstr>
      <vt:lpstr>已完成的工作</vt:lpstr>
      <vt:lpstr>PowerPoint Presentation</vt:lpstr>
      <vt:lpstr>下一阶段计划</vt:lpstr>
      <vt:lpstr>下一阶段计划</vt:lpstr>
      <vt:lpstr>PowerPoint Presentation</vt:lpstr>
      <vt:lpstr>项目安排更改说明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韩宇</dc:creator>
  <cp:lastModifiedBy>Yilei Cheng</cp:lastModifiedBy>
  <cp:revision>747</cp:revision>
  <dcterms:created xsi:type="dcterms:W3CDTF">2016-11-28T11:30:00Z</dcterms:created>
  <dcterms:modified xsi:type="dcterms:W3CDTF">2025-12-15T02:11:11Z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2019-04-12T06:42:33.4777185Z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f2877715-b2cf-4189-b763-9fb10023ee09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ICV">
    <vt:lpwstr>21720903C6304051A8B3315B30B518E2_12</vt:lpwstr>
  </property>
  <property fmtid="{D5CDD505-2E9C-101B-9397-08002B2CF9AE}" pid="12" name="KSOProductBuildVer">
    <vt:lpwstr>2052-12.1.0.19302</vt:lpwstr>
  </property>
</Properties>
</file>